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57" r:id="rId7"/>
    <p:sldId id="258" r:id="rId8"/>
    <p:sldId id="259" r:id="rId9"/>
    <p:sldId id="260" r:id="rId10"/>
    <p:sldId id="261" r:id="rId11"/>
  </p:sldIdLst>
  <p:sldSz cx="18288000" cy="10287000"/>
  <p:notesSz cx="6858000" cy="9144000"/>
  <p:embeddedFontLst>
    <p:embeddedFont>
      <p:font typeface="Arimo" charset="1" panose="020B0604020202020204"/>
      <p:regular r:id="rId15"/>
    </p:embeddedFont>
    <p:embeddedFont>
      <p:font typeface="Arimo Bold" charset="1" panose="020B0704020202020204"/>
      <p:regular r:id="rId17"/>
    </p:embeddedFont>
    <p:embeddedFont>
      <p:font typeface="Inter Bold" charset="1" panose="0200050300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notesMasters/notesMaster1.xml" Type="http://schemas.openxmlformats.org/officeDocument/2006/relationships/notesMaster"/><Relationship Id="rId13" Target="theme/theme2.xml" Type="http://schemas.openxmlformats.org/officeDocument/2006/relationships/theme"/><Relationship Id="rId14" Target="notesSlides/notesSlide1.xml" Type="http://schemas.openxmlformats.org/officeDocument/2006/relationships/notesSlide"/><Relationship Id="rId15" Target="fonts/font15.fntdata" Type="http://schemas.openxmlformats.org/officeDocument/2006/relationships/font"/><Relationship Id="rId16" Target="notesSlides/notesSlide2.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3.xml" Type="http://schemas.openxmlformats.org/officeDocument/2006/relationships/notesSlide"/><Relationship Id="rId2" Target="presProps.xml" Type="http://schemas.openxmlformats.org/officeDocument/2006/relationships/presProps"/><Relationship Id="rId20" Target="notesSlides/notesSlide4.xml" Type="http://schemas.openxmlformats.org/officeDocument/2006/relationships/notesSlide"/><Relationship Id="rId21" Target="notesSlides/notesSlide5.xml" Type="http://schemas.openxmlformats.org/officeDocument/2006/relationships/notesSlide"/><Relationship Id="rId22"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Title slide. Hold here through the intro, then move to the next slide on “Let’s walk through how an order actually moves through LannPya.”</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Zero_Lag. Each dashed circle is a photo slot: replace it with that person’s headshot (square crop, about 400 × 400 px). FSD full-stack development, FE front end, UX user experience, BE back end, BA business analysis, UI interface design, PD product.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when a shop pastes an order message into LannPya, our system reads the mixed Burmese and English text and automatically pulls out the phone number, the township, and the cash-on-delivery amount. If anything looks unclear or incomplete, the system flags it right away with a simple Red, Amber, or Green status so nothing slips through the cracks.”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“Second, the buyer gets a secure, private link. With just a few taps, they can drop a map pin on their exact location, pick a delivery time window, and leave instructions for the rider. Third, the dispatcher reviews any flagged changes on their dashboard and sends the job offer to an available rider. The rider accepts the job on their phone, completes the drop-off, and records the exact cash collected. At the end of the shift, the hub checks the receipts and closes out the cash with a clear, traceable record.”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makes LannPya practical is that it is built for how Myanmar shops actually work today. We don’t force customers to download a new app or type perfect addresses. And instead of using unpredictable black-box AI to guess addresses, our parser uses strict, reliable local-language rules combined with human review at every important step.”</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the business side, LannPya is built as software for existing shops and courier hubs—meaning we don’t need to buy motorbikes or hire our own fleet. Our proposed model is a simple monthly subscription based on order volume. Today, our working prototype handles this entire flow locally. Next, we are looking for local shops and delivery teams to join us as pilot partners so we can test LannPya on live orders and measure how much time it saves. Let’s take a quick 30-second look at the app in action.”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jpe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263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52400"/>
            <a:chOff x="0" y="0"/>
            <a:chExt cx="24384000" cy="203200"/>
          </a:xfrm>
        </p:grpSpPr>
        <p:sp>
          <p:nvSpPr>
            <p:cNvPr name="Freeform 3" id="3"/>
            <p:cNvSpPr/>
            <p:nvPr/>
          </p:nvSpPr>
          <p:spPr>
            <a:xfrm flipH="false" flipV="false" rot="0">
              <a:off x="0" y="0"/>
              <a:ext cx="24384000" cy="203200"/>
            </a:xfrm>
            <a:custGeom>
              <a:avLst/>
              <a:gdLst/>
              <a:ahLst/>
              <a:cxnLst/>
              <a:rect r="r" b="b" t="t" l="l"/>
              <a:pathLst>
                <a:path h="203200" w="24384000">
                  <a:moveTo>
                    <a:pt x="0" y="0"/>
                  </a:moveTo>
                  <a:lnTo>
                    <a:pt x="24384000" y="0"/>
                  </a:lnTo>
                  <a:lnTo>
                    <a:pt x="24384000" y="203200"/>
                  </a:lnTo>
                  <a:lnTo>
                    <a:pt x="0" y="203200"/>
                  </a:lnTo>
                  <a:close/>
                </a:path>
              </a:pathLst>
            </a:custGeom>
            <a:solidFill>
              <a:srgbClr val="F0A032"/>
            </a:solidFill>
          </p:spPr>
        </p:sp>
      </p:grpSp>
      <p:grpSp>
        <p:nvGrpSpPr>
          <p:cNvPr name="Group 4" id="4"/>
          <p:cNvGrpSpPr/>
          <p:nvPr/>
        </p:nvGrpSpPr>
        <p:grpSpPr>
          <a:xfrm rot="0">
            <a:off x="1219200" y="2211781"/>
            <a:ext cx="11239500" cy="3638550"/>
            <a:chOff x="0" y="0"/>
            <a:chExt cx="14986000" cy="4851400"/>
          </a:xfrm>
        </p:grpSpPr>
        <p:sp>
          <p:nvSpPr>
            <p:cNvPr name="Freeform 5" id="5" descr="LannPya logo: Right address, first try."/>
            <p:cNvSpPr/>
            <p:nvPr/>
          </p:nvSpPr>
          <p:spPr>
            <a:xfrm flipH="false" flipV="false" rot="0">
              <a:off x="0" y="0"/>
              <a:ext cx="14986000" cy="4851400"/>
            </a:xfrm>
            <a:custGeom>
              <a:avLst/>
              <a:gdLst/>
              <a:ahLst/>
              <a:cxnLst/>
              <a:rect r="r" b="b" t="t" l="l"/>
              <a:pathLst>
                <a:path h="4851400" w="14986000">
                  <a:moveTo>
                    <a:pt x="0" y="0"/>
                  </a:moveTo>
                  <a:lnTo>
                    <a:pt x="14986000" y="0"/>
                  </a:lnTo>
                  <a:lnTo>
                    <a:pt x="14986000" y="4851400"/>
                  </a:lnTo>
                  <a:lnTo>
                    <a:pt x="0" y="4851400"/>
                  </a:lnTo>
                  <a:lnTo>
                    <a:pt x="0" y="0"/>
                  </a:lnTo>
                  <a:close/>
                </a:path>
              </a:pathLst>
            </a:custGeom>
            <a:blipFill>
              <a:blip r:embed="rId3"/>
              <a:stretch>
                <a:fillRect l="0" t="42" r="0" b="42"/>
              </a:stretch>
            </a:blipFill>
          </p:spPr>
        </p:sp>
      </p:grpSp>
      <p:sp>
        <p:nvSpPr>
          <p:cNvPr name="TextBox 6" id="6"/>
          <p:cNvSpPr txBox="true"/>
          <p:nvPr/>
        </p:nvSpPr>
        <p:spPr>
          <a:xfrm rot="0">
            <a:off x="1219200" y="6326581"/>
            <a:ext cx="13735050" cy="1481928"/>
          </a:xfrm>
          <a:prstGeom prst="rect">
            <a:avLst/>
          </a:prstGeom>
        </p:spPr>
        <p:txBody>
          <a:bodyPr anchor="t" rtlCol="false" tIns="0" lIns="0" bIns="0" rIns="0">
            <a:spAutoFit/>
          </a:bodyPr>
          <a:lstStyle/>
          <a:p>
            <a:pPr algn="l">
              <a:lnSpc>
                <a:spcPts val="5460"/>
              </a:lnSpc>
            </a:pPr>
            <a:r>
              <a:rPr lang="en-US" sz="4200">
                <a:solidFill>
                  <a:srgbClr val="E9DFCB"/>
                </a:solidFill>
                <a:latin typeface="Arimo"/>
                <a:ea typeface="Arimo"/>
                <a:cs typeface="Arimo"/>
                <a:sym typeface="Arimo"/>
              </a:rPr>
              <a:t>Order-to-doorstep software for Myanmar’s cash-on-delivery shops.</a:t>
            </a:r>
          </a:p>
        </p:txBody>
      </p:sp>
      <p:sp>
        <p:nvSpPr>
          <p:cNvPr name="TextBox 7" id="7"/>
          <p:cNvSpPr txBox="true"/>
          <p:nvPr/>
        </p:nvSpPr>
        <p:spPr>
          <a:xfrm rot="0">
            <a:off x="1219200" y="9117406"/>
            <a:ext cx="16325088" cy="521894"/>
          </a:xfrm>
          <a:prstGeom prst="rect">
            <a:avLst/>
          </a:prstGeom>
        </p:spPr>
        <p:txBody>
          <a:bodyPr anchor="t" rtlCol="false" tIns="0" lIns="0" bIns="0" rIns="0">
            <a:spAutoFit/>
          </a:bodyPr>
          <a:lstStyle/>
          <a:p>
            <a:pPr algn="l">
              <a:lnSpc>
                <a:spcPts val="3359"/>
              </a:lnSpc>
            </a:pPr>
            <a:r>
              <a:rPr lang="en-US" sz="2400">
                <a:solidFill>
                  <a:srgbClr val="B9C2CC"/>
                </a:solidFill>
                <a:latin typeface="Arimo"/>
                <a:ea typeface="Arimo"/>
                <a:cs typeface="Arimo"/>
                <a:sym typeface="Arimo"/>
              </a:rPr>
              <a:t>လမ်းပြ · Team Zero_Lag · AI Ocean MM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263A"/>
        </a:solidFill>
      </p:bgPr>
    </p:bg>
    <p:spTree>
      <p:nvGrpSpPr>
        <p:cNvPr id="1" name=""/>
        <p:cNvGrpSpPr/>
        <p:nvPr/>
      </p:nvGrpSpPr>
      <p:grpSpPr>
        <a:xfrm>
          <a:off x="0" y="0"/>
          <a:ext cx="0" cy="0"/>
          <a:chOff x="0" y="0"/>
          <a:chExt cx="0" cy="0"/>
        </a:xfrm>
      </p:grpSpPr>
      <p:grpSp>
        <p:nvGrpSpPr>
          <p:cNvPr name="Group 2" id="2"/>
          <p:cNvGrpSpPr/>
          <p:nvPr/>
        </p:nvGrpSpPr>
        <p:grpSpPr>
          <a:xfrm rot="0">
            <a:off x="14211300" y="533400"/>
            <a:ext cx="2857500" cy="923925"/>
            <a:chOff x="0" y="0"/>
            <a:chExt cx="3810000" cy="1231900"/>
          </a:xfrm>
        </p:grpSpPr>
        <p:sp>
          <p:nvSpPr>
            <p:cNvPr name="Freeform 3" id="3" descr="LannPya logo"/>
            <p:cNvSpPr/>
            <p:nvPr/>
          </p:nvSpPr>
          <p:spPr>
            <a:xfrm flipH="false" flipV="false" rot="0">
              <a:off x="0" y="0"/>
              <a:ext cx="3810000" cy="1231900"/>
            </a:xfrm>
            <a:custGeom>
              <a:avLst/>
              <a:gdLst/>
              <a:ahLst/>
              <a:cxnLst/>
              <a:rect r="r" b="b" t="t" l="l"/>
              <a:pathLst>
                <a:path h="1231900" w="3810000">
                  <a:moveTo>
                    <a:pt x="0" y="0"/>
                  </a:moveTo>
                  <a:lnTo>
                    <a:pt x="3810000" y="0"/>
                  </a:lnTo>
                  <a:lnTo>
                    <a:pt x="3810000" y="1231900"/>
                  </a:lnTo>
                  <a:lnTo>
                    <a:pt x="0" y="1231900"/>
                  </a:lnTo>
                  <a:lnTo>
                    <a:pt x="0" y="0"/>
                  </a:lnTo>
                  <a:close/>
                </a:path>
              </a:pathLst>
            </a:custGeom>
            <a:blipFill>
              <a:blip r:embed="rId3"/>
              <a:stretch>
                <a:fillRect l="18" t="0" r="18" b="0"/>
              </a:stretch>
            </a:blipFill>
          </p:spPr>
        </p:sp>
      </p:grpSp>
      <p:grpSp>
        <p:nvGrpSpPr>
          <p:cNvPr name="Group 4" id="4"/>
          <p:cNvGrpSpPr/>
          <p:nvPr/>
        </p:nvGrpSpPr>
        <p:grpSpPr>
          <a:xfrm rot="0">
            <a:off x="847504" y="2969978"/>
            <a:ext cx="2525767" cy="2525767"/>
            <a:chOff x="0" y="0"/>
            <a:chExt cx="2540000" cy="2540000"/>
          </a:xfrm>
        </p:grpSpPr>
        <p:sp>
          <p:nvSpPr>
            <p:cNvPr name="Freeform 5" id="5"/>
            <p:cNvSpPr/>
            <p:nvPr/>
          </p:nvSpPr>
          <p:spPr>
            <a:xfrm flipH="false" flipV="false" rot="0">
              <a:off x="0" y="0"/>
              <a:ext cx="2540000" cy="2540000"/>
            </a:xfrm>
            <a:custGeom>
              <a:avLst/>
              <a:gdLst/>
              <a:ahLst/>
              <a:cxnLst/>
              <a:rect r="r" b="b" t="t" l="l"/>
              <a:pathLst>
                <a:path h="2540000" w="2540000">
                  <a:moveTo>
                    <a:pt x="0" y="1270000"/>
                  </a:moveTo>
                  <a:cubicBezTo>
                    <a:pt x="0" y="568579"/>
                    <a:pt x="568579" y="0"/>
                    <a:pt x="1270000" y="0"/>
                  </a:cubicBezTo>
                  <a:cubicBezTo>
                    <a:pt x="1971421" y="0"/>
                    <a:pt x="2540000" y="568579"/>
                    <a:pt x="2540000" y="1270000"/>
                  </a:cubicBezTo>
                  <a:cubicBezTo>
                    <a:pt x="2540000" y="1971421"/>
                    <a:pt x="1971421" y="2540000"/>
                    <a:pt x="1270000" y="2540000"/>
                  </a:cubicBezTo>
                  <a:cubicBezTo>
                    <a:pt x="568579" y="2540000"/>
                    <a:pt x="0" y="1971421"/>
                    <a:pt x="0" y="1270000"/>
                  </a:cubicBezTo>
                  <a:close/>
                </a:path>
              </a:pathLst>
            </a:custGeom>
            <a:blipFill>
              <a:blip r:embed="rId4"/>
              <a:stretch>
                <a:fillRect l="-22758" t="-47411" r="-22800" b="-46666"/>
              </a:stretch>
            </a:blipFill>
            <a:ln w="28575" cap="sq">
              <a:solidFill>
                <a:srgbClr val="E6D7BC"/>
              </a:solidFill>
              <a:prstDash val="dash"/>
              <a:miter/>
            </a:ln>
          </p:spPr>
        </p:sp>
      </p:grpSp>
      <p:grpSp>
        <p:nvGrpSpPr>
          <p:cNvPr name="Group 6" id="6"/>
          <p:cNvGrpSpPr/>
          <p:nvPr/>
        </p:nvGrpSpPr>
        <p:grpSpPr>
          <a:xfrm rot="0">
            <a:off x="1599713" y="6189165"/>
            <a:ext cx="882853" cy="487661"/>
            <a:chOff x="0" y="0"/>
            <a:chExt cx="1177138" cy="650215"/>
          </a:xfrm>
        </p:grpSpPr>
        <p:sp>
          <p:nvSpPr>
            <p:cNvPr name="Freeform 7" id="7"/>
            <p:cNvSpPr/>
            <p:nvPr/>
          </p:nvSpPr>
          <p:spPr>
            <a:xfrm flipH="false" flipV="false" rot="0">
              <a:off x="0" y="0"/>
              <a:ext cx="1177163" cy="650240"/>
            </a:xfrm>
            <a:custGeom>
              <a:avLst/>
              <a:gdLst/>
              <a:ahLst/>
              <a:cxnLst/>
              <a:rect r="r" b="b" t="t" l="l"/>
              <a:pathLst>
                <a:path h="650240" w="1177163">
                  <a:moveTo>
                    <a:pt x="325120" y="0"/>
                  </a:moveTo>
                  <a:lnTo>
                    <a:pt x="852043" y="0"/>
                  </a:lnTo>
                  <a:cubicBezTo>
                    <a:pt x="1031621" y="0"/>
                    <a:pt x="1177163" y="145542"/>
                    <a:pt x="1177163" y="325120"/>
                  </a:cubicBezTo>
                  <a:cubicBezTo>
                    <a:pt x="1177163" y="504698"/>
                    <a:pt x="1031621" y="650240"/>
                    <a:pt x="852043"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8" id="8"/>
            <p:cNvSpPr txBox="true"/>
            <p:nvPr/>
          </p:nvSpPr>
          <p:spPr>
            <a:xfrm>
              <a:off x="0" y="-47625"/>
              <a:ext cx="1177138"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FSD</a:t>
              </a:r>
            </a:p>
          </p:txBody>
        </p:sp>
      </p:grpSp>
      <p:grpSp>
        <p:nvGrpSpPr>
          <p:cNvPr name="Group 9" id="9"/>
          <p:cNvGrpSpPr/>
          <p:nvPr/>
        </p:nvGrpSpPr>
        <p:grpSpPr>
          <a:xfrm rot="0">
            <a:off x="1540530" y="7248996"/>
            <a:ext cx="2476500" cy="2615746"/>
            <a:chOff x="0" y="0"/>
            <a:chExt cx="2540000" cy="2682817"/>
          </a:xfrm>
        </p:grpSpPr>
        <p:sp>
          <p:nvSpPr>
            <p:cNvPr name="Freeform 10" id="10"/>
            <p:cNvSpPr/>
            <p:nvPr/>
          </p:nvSpPr>
          <p:spPr>
            <a:xfrm flipH="false" flipV="false" rot="0">
              <a:off x="0" y="0"/>
              <a:ext cx="2540000" cy="2682817"/>
            </a:xfrm>
            <a:custGeom>
              <a:avLst/>
              <a:gdLst/>
              <a:ahLst/>
              <a:cxnLst/>
              <a:rect r="r" b="b" t="t" l="l"/>
              <a:pathLst>
                <a:path h="2682817" w="2540000">
                  <a:moveTo>
                    <a:pt x="0" y="1341408"/>
                  </a:moveTo>
                  <a:cubicBezTo>
                    <a:pt x="0" y="600549"/>
                    <a:pt x="568579" y="0"/>
                    <a:pt x="1270000" y="0"/>
                  </a:cubicBezTo>
                  <a:cubicBezTo>
                    <a:pt x="1971421" y="0"/>
                    <a:pt x="2540000" y="600549"/>
                    <a:pt x="2540000" y="1341408"/>
                  </a:cubicBezTo>
                  <a:cubicBezTo>
                    <a:pt x="2540000" y="2082268"/>
                    <a:pt x="1971421" y="2682817"/>
                    <a:pt x="1270000" y="2682817"/>
                  </a:cubicBezTo>
                  <a:cubicBezTo>
                    <a:pt x="568579" y="2682817"/>
                    <a:pt x="0" y="2082268"/>
                    <a:pt x="0" y="1341408"/>
                  </a:cubicBezTo>
                  <a:close/>
                </a:path>
              </a:pathLst>
            </a:custGeom>
            <a:blipFill>
              <a:blip r:embed="rId5"/>
              <a:stretch>
                <a:fillRect l="0" t="-6554" r="0" b="-19681"/>
              </a:stretch>
            </a:blipFill>
            <a:ln w="28575" cap="sq">
              <a:solidFill>
                <a:srgbClr val="E6D7BC"/>
              </a:solidFill>
              <a:prstDash val="dash"/>
              <a:miter/>
            </a:ln>
          </p:spPr>
        </p:sp>
      </p:grpSp>
      <p:grpSp>
        <p:nvGrpSpPr>
          <p:cNvPr name="Group 11" id="11"/>
          <p:cNvGrpSpPr/>
          <p:nvPr/>
        </p:nvGrpSpPr>
        <p:grpSpPr>
          <a:xfrm rot="0">
            <a:off x="5184394" y="8652132"/>
            <a:ext cx="676675" cy="487661"/>
            <a:chOff x="0" y="0"/>
            <a:chExt cx="902233" cy="650215"/>
          </a:xfrm>
        </p:grpSpPr>
        <p:sp>
          <p:nvSpPr>
            <p:cNvPr name="Freeform 12" id="12"/>
            <p:cNvSpPr/>
            <p:nvPr/>
          </p:nvSpPr>
          <p:spPr>
            <a:xfrm flipH="false" flipV="false" rot="0">
              <a:off x="0" y="0"/>
              <a:ext cx="902208" cy="650240"/>
            </a:xfrm>
            <a:custGeom>
              <a:avLst/>
              <a:gdLst/>
              <a:ahLst/>
              <a:cxnLst/>
              <a:rect r="r" b="b" t="t" l="l"/>
              <a:pathLst>
                <a:path h="650240" w="902208">
                  <a:moveTo>
                    <a:pt x="325120" y="0"/>
                  </a:moveTo>
                  <a:lnTo>
                    <a:pt x="577088" y="0"/>
                  </a:lnTo>
                  <a:cubicBezTo>
                    <a:pt x="756666" y="0"/>
                    <a:pt x="902208" y="145542"/>
                    <a:pt x="902208" y="325120"/>
                  </a:cubicBezTo>
                  <a:cubicBezTo>
                    <a:pt x="902208" y="504698"/>
                    <a:pt x="756666" y="650240"/>
                    <a:pt x="577088"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13" id="13"/>
            <p:cNvSpPr txBox="true"/>
            <p:nvPr/>
          </p:nvSpPr>
          <p:spPr>
            <a:xfrm>
              <a:off x="0" y="-47625"/>
              <a:ext cx="902233"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FE</a:t>
              </a:r>
            </a:p>
          </p:txBody>
        </p:sp>
      </p:grpSp>
      <p:grpSp>
        <p:nvGrpSpPr>
          <p:cNvPr name="Group 14" id="14"/>
          <p:cNvGrpSpPr/>
          <p:nvPr/>
        </p:nvGrpSpPr>
        <p:grpSpPr>
          <a:xfrm rot="0">
            <a:off x="5845159" y="2878012"/>
            <a:ext cx="2538076" cy="2617733"/>
            <a:chOff x="0" y="0"/>
            <a:chExt cx="2540000" cy="2619717"/>
          </a:xfrm>
        </p:grpSpPr>
        <p:sp>
          <p:nvSpPr>
            <p:cNvPr name="Freeform 15" id="15"/>
            <p:cNvSpPr/>
            <p:nvPr/>
          </p:nvSpPr>
          <p:spPr>
            <a:xfrm flipH="false" flipV="false" rot="0">
              <a:off x="0" y="0"/>
              <a:ext cx="2540000" cy="2619717"/>
            </a:xfrm>
            <a:custGeom>
              <a:avLst/>
              <a:gdLst/>
              <a:ahLst/>
              <a:cxnLst/>
              <a:rect r="r" b="b" t="t" l="l"/>
              <a:pathLst>
                <a:path h="2619717" w="2540000">
                  <a:moveTo>
                    <a:pt x="0" y="1309859"/>
                  </a:moveTo>
                  <a:cubicBezTo>
                    <a:pt x="0" y="586424"/>
                    <a:pt x="568579" y="0"/>
                    <a:pt x="1270000" y="0"/>
                  </a:cubicBezTo>
                  <a:cubicBezTo>
                    <a:pt x="1971421" y="0"/>
                    <a:pt x="2540000" y="586424"/>
                    <a:pt x="2540000" y="1309859"/>
                  </a:cubicBezTo>
                  <a:cubicBezTo>
                    <a:pt x="2540000" y="2033293"/>
                    <a:pt x="1971421" y="2619717"/>
                    <a:pt x="1270000" y="2619717"/>
                  </a:cubicBezTo>
                  <a:cubicBezTo>
                    <a:pt x="568579" y="2619717"/>
                    <a:pt x="0" y="2033293"/>
                    <a:pt x="0" y="1309859"/>
                  </a:cubicBezTo>
                  <a:close/>
                </a:path>
              </a:pathLst>
            </a:custGeom>
            <a:blipFill>
              <a:blip r:embed="rId6"/>
              <a:stretch>
                <a:fillRect l="-15517" t="-26919" r="-23294" b="-16820"/>
              </a:stretch>
            </a:blipFill>
            <a:ln w="28575" cap="sq">
              <a:solidFill>
                <a:srgbClr val="E6D7BC"/>
              </a:solidFill>
              <a:prstDash val="dash"/>
              <a:miter/>
            </a:ln>
          </p:spPr>
        </p:sp>
      </p:grpSp>
      <p:grpSp>
        <p:nvGrpSpPr>
          <p:cNvPr name="Group 16" id="16"/>
          <p:cNvGrpSpPr/>
          <p:nvPr/>
        </p:nvGrpSpPr>
        <p:grpSpPr>
          <a:xfrm rot="0">
            <a:off x="6740241" y="6179640"/>
            <a:ext cx="747913" cy="487661"/>
            <a:chOff x="0" y="0"/>
            <a:chExt cx="997217" cy="650215"/>
          </a:xfrm>
        </p:grpSpPr>
        <p:sp>
          <p:nvSpPr>
            <p:cNvPr name="Freeform 17" id="17"/>
            <p:cNvSpPr/>
            <p:nvPr/>
          </p:nvSpPr>
          <p:spPr>
            <a:xfrm flipH="false" flipV="false" rot="0">
              <a:off x="0" y="0"/>
              <a:ext cx="997204" cy="650240"/>
            </a:xfrm>
            <a:custGeom>
              <a:avLst/>
              <a:gdLst/>
              <a:ahLst/>
              <a:cxnLst/>
              <a:rect r="r" b="b" t="t" l="l"/>
              <a:pathLst>
                <a:path h="650240" w="997204">
                  <a:moveTo>
                    <a:pt x="325120" y="0"/>
                  </a:moveTo>
                  <a:lnTo>
                    <a:pt x="672084" y="0"/>
                  </a:lnTo>
                  <a:cubicBezTo>
                    <a:pt x="851662" y="0"/>
                    <a:pt x="997204" y="145542"/>
                    <a:pt x="997204" y="325120"/>
                  </a:cubicBezTo>
                  <a:cubicBezTo>
                    <a:pt x="997204" y="504698"/>
                    <a:pt x="851662" y="650240"/>
                    <a:pt x="672084"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18" id="18"/>
            <p:cNvSpPr txBox="true"/>
            <p:nvPr/>
          </p:nvSpPr>
          <p:spPr>
            <a:xfrm>
              <a:off x="0" y="-47625"/>
              <a:ext cx="997217"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UX</a:t>
              </a:r>
            </a:p>
          </p:txBody>
        </p:sp>
      </p:grpSp>
      <p:grpSp>
        <p:nvGrpSpPr>
          <p:cNvPr name="Group 19" id="19"/>
          <p:cNvGrpSpPr/>
          <p:nvPr/>
        </p:nvGrpSpPr>
        <p:grpSpPr>
          <a:xfrm rot="0">
            <a:off x="7394594" y="7398037"/>
            <a:ext cx="2525767" cy="2508190"/>
            <a:chOff x="0" y="0"/>
            <a:chExt cx="2635759" cy="2617416"/>
          </a:xfrm>
        </p:grpSpPr>
        <p:sp>
          <p:nvSpPr>
            <p:cNvPr name="Freeform 20" id="20"/>
            <p:cNvSpPr/>
            <p:nvPr/>
          </p:nvSpPr>
          <p:spPr>
            <a:xfrm flipH="false" flipV="false" rot="0">
              <a:off x="0" y="0"/>
              <a:ext cx="2635759" cy="2617416"/>
            </a:xfrm>
            <a:custGeom>
              <a:avLst/>
              <a:gdLst/>
              <a:ahLst/>
              <a:cxnLst/>
              <a:rect r="r" b="b" t="t" l="l"/>
              <a:pathLst>
                <a:path h="2617416" w="2635759">
                  <a:moveTo>
                    <a:pt x="0" y="1308708"/>
                  </a:moveTo>
                  <a:cubicBezTo>
                    <a:pt x="0" y="585909"/>
                    <a:pt x="590015" y="0"/>
                    <a:pt x="1317879" y="0"/>
                  </a:cubicBezTo>
                  <a:cubicBezTo>
                    <a:pt x="2045744" y="0"/>
                    <a:pt x="2635759" y="585909"/>
                    <a:pt x="2635759" y="1308708"/>
                  </a:cubicBezTo>
                  <a:cubicBezTo>
                    <a:pt x="2635759" y="2031508"/>
                    <a:pt x="2045744" y="2617416"/>
                    <a:pt x="1317879" y="2617416"/>
                  </a:cubicBezTo>
                  <a:cubicBezTo>
                    <a:pt x="590015" y="2617416"/>
                    <a:pt x="0" y="2031508"/>
                    <a:pt x="0" y="1308708"/>
                  </a:cubicBezTo>
                  <a:close/>
                </a:path>
              </a:pathLst>
            </a:custGeom>
            <a:blipFill>
              <a:blip r:embed="rId7"/>
              <a:stretch>
                <a:fillRect l="0" t="-6481" r="0" b="-16898"/>
              </a:stretch>
            </a:blipFill>
            <a:ln w="28575" cap="sq">
              <a:solidFill>
                <a:srgbClr val="E6D7BC"/>
              </a:solidFill>
              <a:prstDash val="dash"/>
              <a:miter/>
            </a:ln>
          </p:spPr>
        </p:sp>
      </p:grpSp>
      <p:grpSp>
        <p:nvGrpSpPr>
          <p:cNvPr name="Group 21" id="21"/>
          <p:cNvGrpSpPr/>
          <p:nvPr/>
        </p:nvGrpSpPr>
        <p:grpSpPr>
          <a:xfrm rot="0">
            <a:off x="11041369" y="8526809"/>
            <a:ext cx="705345" cy="487661"/>
            <a:chOff x="0" y="0"/>
            <a:chExt cx="940460" cy="650215"/>
          </a:xfrm>
        </p:grpSpPr>
        <p:sp>
          <p:nvSpPr>
            <p:cNvPr name="Freeform 22" id="22"/>
            <p:cNvSpPr/>
            <p:nvPr/>
          </p:nvSpPr>
          <p:spPr>
            <a:xfrm flipH="false" flipV="false" rot="0">
              <a:off x="0" y="0"/>
              <a:ext cx="940435" cy="650240"/>
            </a:xfrm>
            <a:custGeom>
              <a:avLst/>
              <a:gdLst/>
              <a:ahLst/>
              <a:cxnLst/>
              <a:rect r="r" b="b" t="t" l="l"/>
              <a:pathLst>
                <a:path h="650240" w="940435">
                  <a:moveTo>
                    <a:pt x="325120" y="0"/>
                  </a:moveTo>
                  <a:lnTo>
                    <a:pt x="615315" y="0"/>
                  </a:lnTo>
                  <a:cubicBezTo>
                    <a:pt x="794893" y="0"/>
                    <a:pt x="940435" y="145542"/>
                    <a:pt x="940435" y="325120"/>
                  </a:cubicBezTo>
                  <a:cubicBezTo>
                    <a:pt x="940435" y="504698"/>
                    <a:pt x="794893" y="650240"/>
                    <a:pt x="615315"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23" id="23"/>
            <p:cNvSpPr txBox="true"/>
            <p:nvPr/>
          </p:nvSpPr>
          <p:spPr>
            <a:xfrm>
              <a:off x="0" y="-47625"/>
              <a:ext cx="940460"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BE</a:t>
              </a:r>
            </a:p>
          </p:txBody>
        </p:sp>
      </p:grpSp>
      <p:grpSp>
        <p:nvGrpSpPr>
          <p:cNvPr name="Group 24" id="24"/>
          <p:cNvGrpSpPr/>
          <p:nvPr/>
        </p:nvGrpSpPr>
        <p:grpSpPr>
          <a:xfrm rot="0">
            <a:off x="10855123" y="2909792"/>
            <a:ext cx="2511349" cy="2554173"/>
            <a:chOff x="0" y="0"/>
            <a:chExt cx="2540000" cy="2583312"/>
          </a:xfrm>
        </p:grpSpPr>
        <p:sp>
          <p:nvSpPr>
            <p:cNvPr name="Freeform 25" id="25"/>
            <p:cNvSpPr/>
            <p:nvPr/>
          </p:nvSpPr>
          <p:spPr>
            <a:xfrm flipH="false" flipV="false" rot="0">
              <a:off x="0" y="0"/>
              <a:ext cx="2540000" cy="2583312"/>
            </a:xfrm>
            <a:custGeom>
              <a:avLst/>
              <a:gdLst/>
              <a:ahLst/>
              <a:cxnLst/>
              <a:rect r="r" b="b" t="t" l="l"/>
              <a:pathLst>
                <a:path h="2583312" w="2540000">
                  <a:moveTo>
                    <a:pt x="0" y="1291656"/>
                  </a:moveTo>
                  <a:cubicBezTo>
                    <a:pt x="0" y="578274"/>
                    <a:pt x="568579" y="0"/>
                    <a:pt x="1270000" y="0"/>
                  </a:cubicBezTo>
                  <a:cubicBezTo>
                    <a:pt x="1971421" y="0"/>
                    <a:pt x="2540000" y="578274"/>
                    <a:pt x="2540000" y="1291656"/>
                  </a:cubicBezTo>
                  <a:cubicBezTo>
                    <a:pt x="2540000" y="2005038"/>
                    <a:pt x="1971421" y="2583312"/>
                    <a:pt x="1270000" y="2583312"/>
                  </a:cubicBezTo>
                  <a:cubicBezTo>
                    <a:pt x="568579" y="2583312"/>
                    <a:pt x="0" y="2005038"/>
                    <a:pt x="0" y="1291656"/>
                  </a:cubicBezTo>
                  <a:close/>
                </a:path>
              </a:pathLst>
            </a:custGeom>
            <a:blipFill>
              <a:blip r:embed="rId8"/>
              <a:stretch>
                <a:fillRect l="-300" t="0" r="-300" b="-24557"/>
              </a:stretch>
            </a:blipFill>
            <a:ln w="28575" cap="sq">
              <a:solidFill>
                <a:srgbClr val="E6D7BC"/>
              </a:solidFill>
              <a:prstDash val="dash"/>
              <a:miter/>
            </a:ln>
          </p:spPr>
        </p:sp>
      </p:grpSp>
      <p:grpSp>
        <p:nvGrpSpPr>
          <p:cNvPr name="Group 26" id="26"/>
          <p:cNvGrpSpPr/>
          <p:nvPr/>
        </p:nvGrpSpPr>
        <p:grpSpPr>
          <a:xfrm rot="0">
            <a:off x="11746714" y="6134470"/>
            <a:ext cx="728167" cy="487661"/>
            <a:chOff x="0" y="0"/>
            <a:chExt cx="970890" cy="650215"/>
          </a:xfrm>
        </p:grpSpPr>
        <p:sp>
          <p:nvSpPr>
            <p:cNvPr name="Freeform 27" id="27"/>
            <p:cNvSpPr/>
            <p:nvPr/>
          </p:nvSpPr>
          <p:spPr>
            <a:xfrm flipH="false" flipV="false" rot="0">
              <a:off x="0" y="0"/>
              <a:ext cx="970915" cy="650240"/>
            </a:xfrm>
            <a:custGeom>
              <a:avLst/>
              <a:gdLst/>
              <a:ahLst/>
              <a:cxnLst/>
              <a:rect r="r" b="b" t="t" l="l"/>
              <a:pathLst>
                <a:path h="650240" w="970915">
                  <a:moveTo>
                    <a:pt x="325120" y="0"/>
                  </a:moveTo>
                  <a:lnTo>
                    <a:pt x="645795" y="0"/>
                  </a:lnTo>
                  <a:cubicBezTo>
                    <a:pt x="825373" y="0"/>
                    <a:pt x="970915" y="145542"/>
                    <a:pt x="970915" y="325120"/>
                  </a:cubicBezTo>
                  <a:cubicBezTo>
                    <a:pt x="970915" y="504698"/>
                    <a:pt x="825373" y="650240"/>
                    <a:pt x="645795"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28" id="28"/>
            <p:cNvSpPr txBox="true"/>
            <p:nvPr/>
          </p:nvSpPr>
          <p:spPr>
            <a:xfrm>
              <a:off x="0" y="-47625"/>
              <a:ext cx="970890"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BA</a:t>
              </a:r>
            </a:p>
          </p:txBody>
        </p:sp>
      </p:grpSp>
      <p:grpSp>
        <p:nvGrpSpPr>
          <p:cNvPr name="Group 29" id="29"/>
          <p:cNvGrpSpPr/>
          <p:nvPr/>
        </p:nvGrpSpPr>
        <p:grpSpPr>
          <a:xfrm rot="0">
            <a:off x="13276418" y="7379839"/>
            <a:ext cx="2544587" cy="2544587"/>
            <a:chOff x="0" y="0"/>
            <a:chExt cx="2394577" cy="2394577"/>
          </a:xfrm>
        </p:grpSpPr>
        <p:sp>
          <p:nvSpPr>
            <p:cNvPr name="Freeform 30" id="30"/>
            <p:cNvSpPr/>
            <p:nvPr/>
          </p:nvSpPr>
          <p:spPr>
            <a:xfrm flipH="false" flipV="false" rot="0">
              <a:off x="0" y="0"/>
              <a:ext cx="2394577" cy="2394577"/>
            </a:xfrm>
            <a:custGeom>
              <a:avLst/>
              <a:gdLst/>
              <a:ahLst/>
              <a:cxnLst/>
              <a:rect r="r" b="b" t="t" l="l"/>
              <a:pathLst>
                <a:path h="2394577" w="2394577">
                  <a:moveTo>
                    <a:pt x="0" y="1197289"/>
                  </a:moveTo>
                  <a:cubicBezTo>
                    <a:pt x="0" y="536026"/>
                    <a:pt x="536026" y="0"/>
                    <a:pt x="1197289" y="0"/>
                  </a:cubicBezTo>
                  <a:cubicBezTo>
                    <a:pt x="1858551" y="0"/>
                    <a:pt x="2394577" y="536026"/>
                    <a:pt x="2394577" y="1197289"/>
                  </a:cubicBezTo>
                  <a:cubicBezTo>
                    <a:pt x="2394577" y="1858551"/>
                    <a:pt x="1858551" y="2394577"/>
                    <a:pt x="1197289" y="2394577"/>
                  </a:cubicBezTo>
                  <a:cubicBezTo>
                    <a:pt x="536026" y="2394577"/>
                    <a:pt x="0" y="1858551"/>
                    <a:pt x="0" y="1197289"/>
                  </a:cubicBezTo>
                  <a:close/>
                </a:path>
              </a:pathLst>
            </a:custGeom>
            <a:blipFill>
              <a:blip r:embed="rId9"/>
              <a:stretch>
                <a:fillRect l="0" t="-29195" r="0" b="-4137"/>
              </a:stretch>
            </a:blipFill>
            <a:ln w="28575" cap="sq">
              <a:solidFill>
                <a:srgbClr val="E6D7BC"/>
              </a:solidFill>
              <a:prstDash val="dash"/>
              <a:miter/>
            </a:ln>
          </p:spPr>
        </p:sp>
      </p:grpSp>
      <p:grpSp>
        <p:nvGrpSpPr>
          <p:cNvPr name="Group 31" id="31"/>
          <p:cNvGrpSpPr/>
          <p:nvPr/>
        </p:nvGrpSpPr>
        <p:grpSpPr>
          <a:xfrm rot="0">
            <a:off x="16744850" y="8556869"/>
            <a:ext cx="647900" cy="487661"/>
            <a:chOff x="0" y="0"/>
            <a:chExt cx="863867" cy="650215"/>
          </a:xfrm>
        </p:grpSpPr>
        <p:sp>
          <p:nvSpPr>
            <p:cNvPr name="Freeform 32" id="32"/>
            <p:cNvSpPr/>
            <p:nvPr/>
          </p:nvSpPr>
          <p:spPr>
            <a:xfrm flipH="false" flipV="false" rot="0">
              <a:off x="0" y="0"/>
              <a:ext cx="863854" cy="650240"/>
            </a:xfrm>
            <a:custGeom>
              <a:avLst/>
              <a:gdLst/>
              <a:ahLst/>
              <a:cxnLst/>
              <a:rect r="r" b="b" t="t" l="l"/>
              <a:pathLst>
                <a:path h="650240" w="863854">
                  <a:moveTo>
                    <a:pt x="325120" y="0"/>
                  </a:moveTo>
                  <a:lnTo>
                    <a:pt x="538734" y="0"/>
                  </a:lnTo>
                  <a:cubicBezTo>
                    <a:pt x="718312" y="0"/>
                    <a:pt x="863854" y="145542"/>
                    <a:pt x="863854" y="325120"/>
                  </a:cubicBezTo>
                  <a:cubicBezTo>
                    <a:pt x="863854" y="504698"/>
                    <a:pt x="718312" y="650240"/>
                    <a:pt x="538734"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33" id="33"/>
            <p:cNvSpPr txBox="true"/>
            <p:nvPr/>
          </p:nvSpPr>
          <p:spPr>
            <a:xfrm>
              <a:off x="0" y="-47625"/>
              <a:ext cx="863867"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UI</a:t>
              </a:r>
            </a:p>
          </p:txBody>
        </p:sp>
      </p:grpSp>
      <p:grpSp>
        <p:nvGrpSpPr>
          <p:cNvPr name="Group 34" id="34"/>
          <p:cNvGrpSpPr/>
          <p:nvPr/>
        </p:nvGrpSpPr>
        <p:grpSpPr>
          <a:xfrm rot="0">
            <a:off x="15308154" y="2878012"/>
            <a:ext cx="2629896" cy="2629896"/>
            <a:chOff x="0" y="0"/>
            <a:chExt cx="2540000" cy="2540000"/>
          </a:xfrm>
        </p:grpSpPr>
        <p:sp>
          <p:nvSpPr>
            <p:cNvPr name="Freeform 35" id="35"/>
            <p:cNvSpPr/>
            <p:nvPr/>
          </p:nvSpPr>
          <p:spPr>
            <a:xfrm flipH="false" flipV="false" rot="0">
              <a:off x="0" y="0"/>
              <a:ext cx="2540000" cy="2540000"/>
            </a:xfrm>
            <a:custGeom>
              <a:avLst/>
              <a:gdLst/>
              <a:ahLst/>
              <a:cxnLst/>
              <a:rect r="r" b="b" t="t" l="l"/>
              <a:pathLst>
                <a:path h="2540000" w="2540000">
                  <a:moveTo>
                    <a:pt x="0" y="1270000"/>
                  </a:moveTo>
                  <a:cubicBezTo>
                    <a:pt x="0" y="568579"/>
                    <a:pt x="568579" y="0"/>
                    <a:pt x="1270000" y="0"/>
                  </a:cubicBezTo>
                  <a:cubicBezTo>
                    <a:pt x="1971421" y="0"/>
                    <a:pt x="2540000" y="568579"/>
                    <a:pt x="2540000" y="1270000"/>
                  </a:cubicBezTo>
                  <a:cubicBezTo>
                    <a:pt x="2540000" y="1971421"/>
                    <a:pt x="1971421" y="2540000"/>
                    <a:pt x="1270000" y="2540000"/>
                  </a:cubicBezTo>
                  <a:cubicBezTo>
                    <a:pt x="568579" y="2540000"/>
                    <a:pt x="0" y="1971421"/>
                    <a:pt x="0" y="1270000"/>
                  </a:cubicBezTo>
                  <a:close/>
                </a:path>
              </a:pathLst>
            </a:custGeom>
            <a:blipFill>
              <a:blip r:embed="rId10"/>
              <a:stretch>
                <a:fillRect l="-8966" t="0" r="-8966" b="-49881"/>
              </a:stretch>
            </a:blipFill>
            <a:ln w="28575" cap="sq">
              <a:solidFill>
                <a:srgbClr val="E6D7BC"/>
              </a:solidFill>
              <a:prstDash val="dash"/>
              <a:miter/>
            </a:ln>
          </p:spPr>
        </p:sp>
      </p:grpSp>
      <p:grpSp>
        <p:nvGrpSpPr>
          <p:cNvPr name="Group 36" id="36"/>
          <p:cNvGrpSpPr/>
          <p:nvPr/>
        </p:nvGrpSpPr>
        <p:grpSpPr>
          <a:xfrm rot="0">
            <a:off x="16330612" y="6179640"/>
            <a:ext cx="738188" cy="487661"/>
            <a:chOff x="0" y="0"/>
            <a:chExt cx="984250" cy="650215"/>
          </a:xfrm>
        </p:grpSpPr>
        <p:sp>
          <p:nvSpPr>
            <p:cNvPr name="Freeform 37" id="37"/>
            <p:cNvSpPr/>
            <p:nvPr/>
          </p:nvSpPr>
          <p:spPr>
            <a:xfrm flipH="false" flipV="false" rot="0">
              <a:off x="0" y="0"/>
              <a:ext cx="984250" cy="650240"/>
            </a:xfrm>
            <a:custGeom>
              <a:avLst/>
              <a:gdLst/>
              <a:ahLst/>
              <a:cxnLst/>
              <a:rect r="r" b="b" t="t" l="l"/>
              <a:pathLst>
                <a:path h="650240" w="984250">
                  <a:moveTo>
                    <a:pt x="325120" y="0"/>
                  </a:moveTo>
                  <a:lnTo>
                    <a:pt x="659130" y="0"/>
                  </a:lnTo>
                  <a:cubicBezTo>
                    <a:pt x="838708" y="0"/>
                    <a:pt x="984250" y="145542"/>
                    <a:pt x="984250" y="325120"/>
                  </a:cubicBezTo>
                  <a:cubicBezTo>
                    <a:pt x="984250" y="504698"/>
                    <a:pt x="838708" y="650240"/>
                    <a:pt x="659130" y="650240"/>
                  </a:cubicBezTo>
                  <a:lnTo>
                    <a:pt x="325120" y="650240"/>
                  </a:lnTo>
                  <a:cubicBezTo>
                    <a:pt x="145542" y="650240"/>
                    <a:pt x="0" y="504698"/>
                    <a:pt x="0" y="325120"/>
                  </a:cubicBezTo>
                  <a:cubicBezTo>
                    <a:pt x="0" y="145542"/>
                    <a:pt x="145542" y="0"/>
                    <a:pt x="325120" y="0"/>
                  </a:cubicBezTo>
                  <a:close/>
                </a:path>
              </a:pathLst>
            </a:custGeom>
            <a:solidFill>
              <a:srgbClr val="F0A032"/>
            </a:solidFill>
          </p:spPr>
        </p:sp>
        <p:sp>
          <p:nvSpPr>
            <p:cNvPr name="TextBox 38" id="38"/>
            <p:cNvSpPr txBox="true"/>
            <p:nvPr/>
          </p:nvSpPr>
          <p:spPr>
            <a:xfrm>
              <a:off x="0" y="-47625"/>
              <a:ext cx="984250" cy="697840"/>
            </a:xfrm>
            <a:prstGeom prst="rect">
              <a:avLst/>
            </a:prstGeom>
          </p:spPr>
          <p:txBody>
            <a:bodyPr anchor="ctr" rtlCol="false" tIns="50800" lIns="50800" bIns="50800" rIns="50800"/>
            <a:lstStyle/>
            <a:p>
              <a:pPr algn="ctr">
                <a:lnSpc>
                  <a:spcPts val="2940"/>
                </a:lnSpc>
              </a:pPr>
              <a:r>
                <a:rPr lang="en-US" sz="2100" b="true">
                  <a:solidFill>
                    <a:srgbClr val="16263A"/>
                  </a:solidFill>
                  <a:latin typeface="Arimo Bold"/>
                  <a:ea typeface="Arimo Bold"/>
                  <a:cs typeface="Arimo Bold"/>
                  <a:sym typeface="Arimo Bold"/>
                </a:rPr>
                <a:t>PD</a:t>
              </a:r>
            </a:p>
          </p:txBody>
        </p:sp>
      </p:grpSp>
      <p:sp>
        <p:nvSpPr>
          <p:cNvPr name="TextBox 39" id="39"/>
          <p:cNvSpPr txBox="true"/>
          <p:nvPr/>
        </p:nvSpPr>
        <p:spPr>
          <a:xfrm rot="0">
            <a:off x="1219200" y="1009650"/>
            <a:ext cx="16325088" cy="521894"/>
          </a:xfrm>
          <a:prstGeom prst="rect">
            <a:avLst/>
          </a:prstGeom>
        </p:spPr>
        <p:txBody>
          <a:bodyPr anchor="t" rtlCol="false" tIns="0" lIns="0" bIns="0" rIns="0">
            <a:spAutoFit/>
          </a:bodyPr>
          <a:lstStyle/>
          <a:p>
            <a:pPr algn="l">
              <a:lnSpc>
                <a:spcPts val="3359"/>
              </a:lnSpc>
            </a:pPr>
            <a:r>
              <a:rPr lang="en-US" b="true" sz="2400" spc="150">
                <a:solidFill>
                  <a:srgbClr val="F0A032"/>
                </a:solidFill>
                <a:latin typeface="Arimo Bold"/>
                <a:ea typeface="Arimo Bold"/>
                <a:cs typeface="Arimo Bold"/>
                <a:sym typeface="Arimo Bold"/>
              </a:rPr>
              <a:t>THE TEAM</a:t>
            </a:r>
          </a:p>
        </p:txBody>
      </p:sp>
      <p:sp>
        <p:nvSpPr>
          <p:cNvPr name="TextBox 40" id="40"/>
          <p:cNvSpPr txBox="true"/>
          <p:nvPr/>
        </p:nvSpPr>
        <p:spPr>
          <a:xfrm rot="0">
            <a:off x="1278321" y="1692155"/>
            <a:ext cx="4637339" cy="1136601"/>
          </a:xfrm>
          <a:prstGeom prst="rect">
            <a:avLst/>
          </a:prstGeom>
        </p:spPr>
        <p:txBody>
          <a:bodyPr anchor="t" rtlCol="false" tIns="0" lIns="0" bIns="0" rIns="0">
            <a:spAutoFit/>
          </a:bodyPr>
          <a:lstStyle/>
          <a:p>
            <a:pPr algn="l">
              <a:lnSpc>
                <a:spcPts val="8717"/>
              </a:lnSpc>
            </a:pPr>
            <a:r>
              <a:rPr lang="en-US" b="true" sz="8301" spc="-94">
                <a:solidFill>
                  <a:srgbClr val="FFF5E4"/>
                </a:solidFill>
                <a:latin typeface="Inter Bold"/>
                <a:ea typeface="Inter Bold"/>
                <a:cs typeface="Inter Bold"/>
                <a:sym typeface="Inter Bold"/>
              </a:rPr>
              <a:t>Zero_Lag</a:t>
            </a:r>
          </a:p>
        </p:txBody>
      </p:sp>
      <p:sp>
        <p:nvSpPr>
          <p:cNvPr name="TextBox 41" id="41"/>
          <p:cNvSpPr txBox="true"/>
          <p:nvPr/>
        </p:nvSpPr>
        <p:spPr>
          <a:xfrm rot="0">
            <a:off x="628367" y="5648145"/>
            <a:ext cx="2968623" cy="398145"/>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Zaw Lwin Htoo</a:t>
            </a:r>
          </a:p>
        </p:txBody>
      </p:sp>
      <p:sp>
        <p:nvSpPr>
          <p:cNvPr name="TextBox 42" id="42"/>
          <p:cNvSpPr txBox="true"/>
          <p:nvPr/>
        </p:nvSpPr>
        <p:spPr>
          <a:xfrm rot="0">
            <a:off x="4222884" y="8032032"/>
            <a:ext cx="2891314" cy="398145"/>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Min Kyi Sin Thant</a:t>
            </a:r>
          </a:p>
        </p:txBody>
      </p:sp>
      <p:sp>
        <p:nvSpPr>
          <p:cNvPr name="TextBox 43" id="43"/>
          <p:cNvSpPr txBox="true"/>
          <p:nvPr/>
        </p:nvSpPr>
        <p:spPr>
          <a:xfrm rot="0">
            <a:off x="5667508" y="5602975"/>
            <a:ext cx="2893378" cy="398145"/>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Yan Lin Naing</a:t>
            </a:r>
          </a:p>
        </p:txBody>
      </p:sp>
      <p:sp>
        <p:nvSpPr>
          <p:cNvPr name="TextBox 44" id="44"/>
          <p:cNvSpPr txBox="true"/>
          <p:nvPr/>
        </p:nvSpPr>
        <p:spPr>
          <a:xfrm rot="0">
            <a:off x="9936455" y="8032032"/>
            <a:ext cx="3031221" cy="398145"/>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Kyaw Bhone Htet</a:t>
            </a:r>
          </a:p>
        </p:txBody>
      </p:sp>
      <p:sp>
        <p:nvSpPr>
          <p:cNvPr name="TextBox 45" id="45"/>
          <p:cNvSpPr txBox="true"/>
          <p:nvPr/>
        </p:nvSpPr>
        <p:spPr>
          <a:xfrm rot="0">
            <a:off x="10496600" y="5602975"/>
            <a:ext cx="3228395" cy="398145"/>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Bhone Myat Htut</a:t>
            </a:r>
          </a:p>
        </p:txBody>
      </p:sp>
      <p:sp>
        <p:nvSpPr>
          <p:cNvPr name="TextBox 46" id="46"/>
          <p:cNvSpPr txBox="true"/>
          <p:nvPr/>
        </p:nvSpPr>
        <p:spPr>
          <a:xfrm rot="0">
            <a:off x="15840055" y="8133997"/>
            <a:ext cx="2318385" cy="422872"/>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Zin Min Htet</a:t>
            </a:r>
          </a:p>
        </p:txBody>
      </p:sp>
      <p:sp>
        <p:nvSpPr>
          <p:cNvPr name="TextBox 47" id="47"/>
          <p:cNvSpPr txBox="true"/>
          <p:nvPr/>
        </p:nvSpPr>
        <p:spPr>
          <a:xfrm rot="0">
            <a:off x="14959637" y="5648145"/>
            <a:ext cx="3326929" cy="398145"/>
          </a:xfrm>
          <a:prstGeom prst="rect">
            <a:avLst/>
          </a:prstGeom>
        </p:spPr>
        <p:txBody>
          <a:bodyPr anchor="t" rtlCol="false" tIns="0" lIns="0" bIns="0" rIns="0">
            <a:spAutoFit/>
          </a:bodyPr>
          <a:lstStyle/>
          <a:p>
            <a:pPr algn="ctr">
              <a:lnSpc>
                <a:spcPts val="3104"/>
              </a:lnSpc>
            </a:pPr>
            <a:r>
              <a:rPr lang="en-US" sz="2700" b="true">
                <a:solidFill>
                  <a:srgbClr val="FFF5E4"/>
                </a:solidFill>
                <a:latin typeface="Inter Bold"/>
                <a:ea typeface="Inter Bold"/>
                <a:cs typeface="Inter Bold"/>
                <a:sym typeface="Inter Bold"/>
              </a:rPr>
              <a:t>Min Thant Tun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E4"/>
        </a:solidFill>
      </p:bgPr>
    </p:bg>
    <p:spTree>
      <p:nvGrpSpPr>
        <p:cNvPr id="1" name=""/>
        <p:cNvGrpSpPr/>
        <p:nvPr/>
      </p:nvGrpSpPr>
      <p:grpSpPr>
        <a:xfrm>
          <a:off x="0" y="0"/>
          <a:ext cx="0" cy="0"/>
          <a:chOff x="0" y="0"/>
          <a:chExt cx="0" cy="0"/>
        </a:xfrm>
      </p:grpSpPr>
      <p:grpSp>
        <p:nvGrpSpPr>
          <p:cNvPr name="Group 2" id="2"/>
          <p:cNvGrpSpPr/>
          <p:nvPr/>
        </p:nvGrpSpPr>
        <p:grpSpPr>
          <a:xfrm rot="0">
            <a:off x="14211300" y="533400"/>
            <a:ext cx="2857500" cy="923925"/>
            <a:chOff x="0" y="0"/>
            <a:chExt cx="3810000" cy="1231900"/>
          </a:xfrm>
        </p:grpSpPr>
        <p:sp>
          <p:nvSpPr>
            <p:cNvPr name="Freeform 3" id="3" descr="LannPya logo"/>
            <p:cNvSpPr/>
            <p:nvPr/>
          </p:nvSpPr>
          <p:spPr>
            <a:xfrm flipH="false" flipV="false" rot="0">
              <a:off x="0" y="0"/>
              <a:ext cx="3810000" cy="1231900"/>
            </a:xfrm>
            <a:custGeom>
              <a:avLst/>
              <a:gdLst/>
              <a:ahLst/>
              <a:cxnLst/>
              <a:rect r="r" b="b" t="t" l="l"/>
              <a:pathLst>
                <a:path h="1231900" w="3810000">
                  <a:moveTo>
                    <a:pt x="0" y="0"/>
                  </a:moveTo>
                  <a:lnTo>
                    <a:pt x="3810000" y="0"/>
                  </a:lnTo>
                  <a:lnTo>
                    <a:pt x="3810000" y="1231900"/>
                  </a:lnTo>
                  <a:lnTo>
                    <a:pt x="0" y="1231900"/>
                  </a:lnTo>
                  <a:lnTo>
                    <a:pt x="0" y="0"/>
                  </a:lnTo>
                  <a:close/>
                </a:path>
              </a:pathLst>
            </a:custGeom>
            <a:blipFill>
              <a:blip r:embed="rId3"/>
              <a:stretch>
                <a:fillRect l="18" t="0" r="18" b="0"/>
              </a:stretch>
            </a:blipFill>
          </p:spPr>
        </p:sp>
      </p:grpSp>
      <p:grpSp>
        <p:nvGrpSpPr>
          <p:cNvPr name="Group 4" id="4"/>
          <p:cNvGrpSpPr/>
          <p:nvPr/>
        </p:nvGrpSpPr>
        <p:grpSpPr>
          <a:xfrm rot="0">
            <a:off x="7304886" y="5143500"/>
            <a:ext cx="1380336" cy="1380336"/>
            <a:chOff x="0" y="0"/>
            <a:chExt cx="1016000" cy="1016000"/>
          </a:xfrm>
        </p:grpSpPr>
        <p:sp>
          <p:nvSpPr>
            <p:cNvPr name="Freeform 5" id="5" descr="Lightning"/>
            <p:cNvSpPr/>
            <p:nvPr/>
          </p:nvSpPr>
          <p:spPr>
            <a:xfrm flipH="false" flipV="false" rot="0">
              <a:off x="0" y="0"/>
              <a:ext cx="1016000" cy="1016000"/>
            </a:xfrm>
            <a:custGeom>
              <a:avLst/>
              <a:gdLst/>
              <a:ahLst/>
              <a:cxnLst/>
              <a:rect r="r" b="b" t="t" l="l"/>
              <a:pathLst>
                <a:path h="1016000" w="1016000">
                  <a:moveTo>
                    <a:pt x="0" y="0"/>
                  </a:moveTo>
                  <a:lnTo>
                    <a:pt x="1016000" y="0"/>
                  </a:lnTo>
                  <a:lnTo>
                    <a:pt x="1016000" y="1016000"/>
                  </a:lnTo>
                  <a:lnTo>
                    <a:pt x="0" y="1016000"/>
                  </a:lnTo>
                  <a:lnTo>
                    <a:pt x="0" y="0"/>
                  </a:lnTo>
                  <a:close/>
                </a:path>
              </a:pathLst>
            </a:custGeom>
            <a:blipFill>
              <a:blip r:embed="rId4"/>
              <a:stretch>
                <a:fillRect l="0" t="0" r="0" b="0"/>
              </a:stretch>
            </a:blipFill>
          </p:spPr>
        </p:sp>
      </p:grpSp>
      <p:grpSp>
        <p:nvGrpSpPr>
          <p:cNvPr name="Group 6" id="6"/>
          <p:cNvGrpSpPr/>
          <p:nvPr/>
        </p:nvGrpSpPr>
        <p:grpSpPr>
          <a:xfrm rot="0">
            <a:off x="8685222" y="3767380"/>
            <a:ext cx="8574078" cy="1330286"/>
            <a:chOff x="0" y="0"/>
            <a:chExt cx="10939780" cy="1697330"/>
          </a:xfrm>
        </p:grpSpPr>
        <p:sp>
          <p:nvSpPr>
            <p:cNvPr name="Freeform 7" id="7"/>
            <p:cNvSpPr/>
            <p:nvPr/>
          </p:nvSpPr>
          <p:spPr>
            <a:xfrm flipH="false" flipV="false" rot="0">
              <a:off x="0" y="0"/>
              <a:ext cx="10939780" cy="1697330"/>
            </a:xfrm>
            <a:custGeom>
              <a:avLst/>
              <a:gdLst/>
              <a:ahLst/>
              <a:cxnLst/>
              <a:rect r="r" b="b" t="t" l="l"/>
              <a:pathLst>
                <a:path h="1697330" w="10939780">
                  <a:moveTo>
                    <a:pt x="0" y="298576"/>
                  </a:moveTo>
                  <a:cubicBezTo>
                    <a:pt x="0" y="133626"/>
                    <a:pt x="111720" y="0"/>
                    <a:pt x="249628" y="0"/>
                  </a:cubicBezTo>
                  <a:lnTo>
                    <a:pt x="10690151" y="0"/>
                  </a:lnTo>
                  <a:cubicBezTo>
                    <a:pt x="10828061" y="0"/>
                    <a:pt x="10939780" y="133626"/>
                    <a:pt x="10939780" y="298576"/>
                  </a:cubicBezTo>
                  <a:lnTo>
                    <a:pt x="10939780" y="1398754"/>
                  </a:lnTo>
                  <a:cubicBezTo>
                    <a:pt x="10939780" y="1563703"/>
                    <a:pt x="10828061" y="1697330"/>
                    <a:pt x="10690152" y="1697330"/>
                  </a:cubicBezTo>
                  <a:lnTo>
                    <a:pt x="249628" y="1697330"/>
                  </a:lnTo>
                  <a:cubicBezTo>
                    <a:pt x="111720" y="1697330"/>
                    <a:pt x="0" y="1563703"/>
                    <a:pt x="0" y="1398754"/>
                  </a:cubicBezTo>
                  <a:close/>
                </a:path>
              </a:pathLst>
            </a:custGeom>
            <a:solidFill>
              <a:srgbClr val="FFFBF3"/>
            </a:solidFill>
            <a:ln w="19050" cap="sq">
              <a:solidFill>
                <a:srgbClr val="E6D7BC"/>
              </a:solidFill>
              <a:prstDash val="solid"/>
              <a:miter/>
            </a:ln>
          </p:spPr>
        </p:sp>
      </p:grpSp>
      <p:grpSp>
        <p:nvGrpSpPr>
          <p:cNvPr name="Group 8" id="8"/>
          <p:cNvGrpSpPr/>
          <p:nvPr/>
        </p:nvGrpSpPr>
        <p:grpSpPr>
          <a:xfrm rot="0">
            <a:off x="14566010" y="4262657"/>
            <a:ext cx="1970406" cy="577312"/>
            <a:chOff x="0" y="0"/>
            <a:chExt cx="2514067" cy="736600"/>
          </a:xfrm>
        </p:grpSpPr>
        <p:sp>
          <p:nvSpPr>
            <p:cNvPr name="Freeform 9" id="9"/>
            <p:cNvSpPr/>
            <p:nvPr/>
          </p:nvSpPr>
          <p:spPr>
            <a:xfrm flipH="false" flipV="false" rot="0">
              <a:off x="0" y="0"/>
              <a:ext cx="2514092" cy="736600"/>
            </a:xfrm>
            <a:custGeom>
              <a:avLst/>
              <a:gdLst/>
              <a:ahLst/>
              <a:cxnLst/>
              <a:rect r="r" b="b" t="t" l="l"/>
              <a:pathLst>
                <a:path h="736600" w="2514092">
                  <a:moveTo>
                    <a:pt x="0" y="368300"/>
                  </a:moveTo>
                  <a:cubicBezTo>
                    <a:pt x="0" y="164846"/>
                    <a:pt x="164846" y="0"/>
                    <a:pt x="368300" y="0"/>
                  </a:cubicBezTo>
                  <a:lnTo>
                    <a:pt x="2145792" y="0"/>
                  </a:lnTo>
                  <a:cubicBezTo>
                    <a:pt x="2349246" y="0"/>
                    <a:pt x="2514092" y="164846"/>
                    <a:pt x="2514092" y="368300"/>
                  </a:cubicBezTo>
                  <a:cubicBezTo>
                    <a:pt x="2514092" y="571754"/>
                    <a:pt x="2349246" y="736600"/>
                    <a:pt x="2145792" y="736600"/>
                  </a:cubicBezTo>
                  <a:lnTo>
                    <a:pt x="368300" y="736600"/>
                  </a:lnTo>
                  <a:cubicBezTo>
                    <a:pt x="164846" y="736600"/>
                    <a:pt x="0" y="571754"/>
                    <a:pt x="0" y="368300"/>
                  </a:cubicBezTo>
                  <a:close/>
                </a:path>
              </a:pathLst>
            </a:custGeom>
            <a:solidFill>
              <a:srgbClr val="DDF1E2"/>
            </a:solidFill>
          </p:spPr>
        </p:sp>
        <p:sp>
          <p:nvSpPr>
            <p:cNvPr name="TextBox 10" id="10"/>
            <p:cNvSpPr txBox="true"/>
            <p:nvPr/>
          </p:nvSpPr>
          <p:spPr>
            <a:xfrm>
              <a:off x="0" y="-57150"/>
              <a:ext cx="2514067" cy="793750"/>
            </a:xfrm>
            <a:prstGeom prst="rect">
              <a:avLst/>
            </a:prstGeom>
          </p:spPr>
          <p:txBody>
            <a:bodyPr anchor="ctr" rtlCol="false" tIns="50800" lIns="50800" bIns="50800" rIns="50800"/>
            <a:lstStyle/>
            <a:p>
              <a:pPr algn="ctr">
                <a:lnSpc>
                  <a:spcPts val="3149"/>
                </a:lnSpc>
              </a:pPr>
              <a:r>
                <a:rPr lang="en-US" sz="2250" b="true">
                  <a:solidFill>
                    <a:srgbClr val="1E6B3A"/>
                  </a:solidFill>
                  <a:latin typeface="Arimo Bold"/>
                  <a:ea typeface="Arimo Bold"/>
                  <a:cs typeface="Arimo Bold"/>
                  <a:sym typeface="Arimo Bold"/>
                </a:rPr>
                <a:t>Green · OK</a:t>
              </a:r>
            </a:p>
          </p:txBody>
        </p:sp>
      </p:grpSp>
      <p:grpSp>
        <p:nvGrpSpPr>
          <p:cNvPr name="Group 11" id="11"/>
          <p:cNvGrpSpPr/>
          <p:nvPr/>
        </p:nvGrpSpPr>
        <p:grpSpPr>
          <a:xfrm rot="0">
            <a:off x="585295" y="3747472"/>
            <a:ext cx="6567980" cy="5119737"/>
            <a:chOff x="0" y="0"/>
            <a:chExt cx="1729838" cy="1348408"/>
          </a:xfrm>
        </p:grpSpPr>
        <p:sp>
          <p:nvSpPr>
            <p:cNvPr name="Freeform 12" id="12"/>
            <p:cNvSpPr/>
            <p:nvPr/>
          </p:nvSpPr>
          <p:spPr>
            <a:xfrm flipH="false" flipV="false" rot="0">
              <a:off x="0" y="0"/>
              <a:ext cx="1729838" cy="1348408"/>
            </a:xfrm>
            <a:custGeom>
              <a:avLst/>
              <a:gdLst/>
              <a:ahLst/>
              <a:cxnLst/>
              <a:rect r="r" b="b" t="t" l="l"/>
              <a:pathLst>
                <a:path h="1348408" w="1729838">
                  <a:moveTo>
                    <a:pt x="0" y="0"/>
                  </a:moveTo>
                  <a:lnTo>
                    <a:pt x="1729838" y="0"/>
                  </a:lnTo>
                  <a:lnTo>
                    <a:pt x="1729838" y="1348408"/>
                  </a:lnTo>
                  <a:lnTo>
                    <a:pt x="0" y="1348408"/>
                  </a:lnTo>
                  <a:close/>
                </a:path>
              </a:pathLst>
            </a:custGeom>
            <a:solidFill>
              <a:srgbClr val="FFFBF3"/>
            </a:solidFill>
          </p:spPr>
        </p:sp>
        <p:sp>
          <p:nvSpPr>
            <p:cNvPr name="TextBox 13" id="13"/>
            <p:cNvSpPr txBox="true"/>
            <p:nvPr/>
          </p:nvSpPr>
          <p:spPr>
            <a:xfrm>
              <a:off x="0" y="-38100"/>
              <a:ext cx="1729838" cy="1386508"/>
            </a:xfrm>
            <a:prstGeom prst="rect">
              <a:avLst/>
            </a:prstGeom>
          </p:spPr>
          <p:txBody>
            <a:bodyPr anchor="ctr" rtlCol="false" tIns="50800" lIns="50800" bIns="50800" rIns="50800"/>
            <a:lstStyle/>
            <a:p>
              <a:pPr algn="ctr">
                <a:lnSpc>
                  <a:spcPts val="3315"/>
                </a:lnSpc>
              </a:pPr>
              <a:r>
                <a:rPr lang="en-US" sz="2550">
                  <a:solidFill>
                    <a:srgbClr val="FFFFFF"/>
                  </a:solidFill>
                  <a:latin typeface="Arimo"/>
                  <a:ea typeface="Arimo"/>
                  <a:cs typeface="Arimo"/>
                  <a:sym typeface="Arimo"/>
                </a:rPr>
                <a:t>e</a:t>
              </a:r>
            </a:p>
          </p:txBody>
        </p:sp>
      </p:grpSp>
      <p:sp>
        <p:nvSpPr>
          <p:cNvPr name="TextBox 14" id="14"/>
          <p:cNvSpPr txBox="true"/>
          <p:nvPr/>
        </p:nvSpPr>
        <p:spPr>
          <a:xfrm rot="0">
            <a:off x="1219200" y="1009650"/>
            <a:ext cx="16325088" cy="521894"/>
          </a:xfrm>
          <a:prstGeom prst="rect">
            <a:avLst/>
          </a:prstGeom>
        </p:spPr>
        <p:txBody>
          <a:bodyPr anchor="t" rtlCol="false" tIns="0" lIns="0" bIns="0" rIns="0">
            <a:spAutoFit/>
          </a:bodyPr>
          <a:lstStyle/>
          <a:p>
            <a:pPr algn="l">
              <a:lnSpc>
                <a:spcPts val="3359"/>
              </a:lnSpc>
            </a:pPr>
            <a:r>
              <a:rPr lang="en-US" b="true" sz="2400" spc="150">
                <a:solidFill>
                  <a:srgbClr val="A86500"/>
                </a:solidFill>
                <a:latin typeface="Arimo Bold"/>
                <a:ea typeface="Arimo Bold"/>
                <a:cs typeface="Arimo Bold"/>
                <a:sym typeface="Arimo Bold"/>
              </a:rPr>
              <a:t>STEP 1 · PASTE</a:t>
            </a:r>
          </a:p>
        </p:txBody>
      </p:sp>
      <p:sp>
        <p:nvSpPr>
          <p:cNvPr name="TextBox 15" id="15"/>
          <p:cNvSpPr txBox="true"/>
          <p:nvPr/>
        </p:nvSpPr>
        <p:spPr>
          <a:xfrm rot="0">
            <a:off x="1219200" y="1693469"/>
            <a:ext cx="16325088" cy="832447"/>
          </a:xfrm>
          <a:prstGeom prst="rect">
            <a:avLst/>
          </a:prstGeom>
        </p:spPr>
        <p:txBody>
          <a:bodyPr anchor="t" rtlCol="false" tIns="0" lIns="0" bIns="0" rIns="0">
            <a:spAutoFit/>
          </a:bodyPr>
          <a:lstStyle/>
          <a:p>
            <a:pPr algn="l">
              <a:lnSpc>
                <a:spcPts val="6930"/>
              </a:lnSpc>
            </a:pPr>
            <a:r>
              <a:rPr lang="en-US" b="true" sz="6600" spc="-74">
                <a:solidFill>
                  <a:srgbClr val="16263A"/>
                </a:solidFill>
                <a:latin typeface="Inter Bold"/>
                <a:ea typeface="Inter Bold"/>
                <a:cs typeface="Inter Bold"/>
                <a:sym typeface="Inter Bold"/>
              </a:rPr>
              <a:t>Paste a chat order. LannPya reads it.</a:t>
            </a:r>
          </a:p>
        </p:txBody>
      </p:sp>
      <p:sp>
        <p:nvSpPr>
          <p:cNvPr name="TextBox 16" id="16"/>
          <p:cNvSpPr txBox="true"/>
          <p:nvPr/>
        </p:nvSpPr>
        <p:spPr>
          <a:xfrm rot="0">
            <a:off x="585295" y="3040266"/>
            <a:ext cx="6278880" cy="495300"/>
          </a:xfrm>
          <a:prstGeom prst="rect">
            <a:avLst/>
          </a:prstGeom>
        </p:spPr>
        <p:txBody>
          <a:bodyPr anchor="t" rtlCol="false" tIns="0" lIns="0" bIns="0" rIns="0">
            <a:spAutoFit/>
          </a:bodyPr>
          <a:lstStyle/>
          <a:p>
            <a:pPr algn="l">
              <a:lnSpc>
                <a:spcPts val="3149"/>
              </a:lnSpc>
            </a:pPr>
            <a:r>
              <a:rPr lang="en-US" sz="2250">
                <a:solidFill>
                  <a:srgbClr val="4B5A6B"/>
                </a:solidFill>
                <a:latin typeface="Arimo"/>
                <a:ea typeface="Arimo"/>
                <a:cs typeface="Arimo"/>
                <a:sym typeface="Arimo"/>
              </a:rPr>
              <a:t>The shop pastes</a:t>
            </a:r>
          </a:p>
        </p:txBody>
      </p:sp>
      <p:sp>
        <p:nvSpPr>
          <p:cNvPr name="TextBox 17" id="17"/>
          <p:cNvSpPr txBox="true"/>
          <p:nvPr/>
        </p:nvSpPr>
        <p:spPr>
          <a:xfrm rot="0">
            <a:off x="8991600" y="3040266"/>
            <a:ext cx="8319516" cy="495300"/>
          </a:xfrm>
          <a:prstGeom prst="rect">
            <a:avLst/>
          </a:prstGeom>
        </p:spPr>
        <p:txBody>
          <a:bodyPr anchor="t" rtlCol="false" tIns="0" lIns="0" bIns="0" rIns="0">
            <a:spAutoFit/>
          </a:bodyPr>
          <a:lstStyle/>
          <a:p>
            <a:pPr algn="l">
              <a:lnSpc>
                <a:spcPts val="3149"/>
              </a:lnSpc>
            </a:pPr>
            <a:r>
              <a:rPr lang="en-US" sz="2250">
                <a:solidFill>
                  <a:srgbClr val="4B5A6B"/>
                </a:solidFill>
                <a:latin typeface="Arimo"/>
                <a:ea typeface="Arimo"/>
                <a:cs typeface="Arimo"/>
                <a:sym typeface="Arimo"/>
              </a:rPr>
              <a:t>LannPya reads and flags</a:t>
            </a:r>
          </a:p>
        </p:txBody>
      </p:sp>
      <p:sp>
        <p:nvSpPr>
          <p:cNvPr name="TextBox 18" id="18"/>
          <p:cNvSpPr txBox="true"/>
          <p:nvPr/>
        </p:nvSpPr>
        <p:spPr>
          <a:xfrm rot="0">
            <a:off x="9168171" y="4176504"/>
            <a:ext cx="4764068" cy="673419"/>
          </a:xfrm>
          <a:prstGeom prst="rect">
            <a:avLst/>
          </a:prstGeom>
        </p:spPr>
        <p:txBody>
          <a:bodyPr anchor="t" rtlCol="false" tIns="0" lIns="0" bIns="0" rIns="0">
            <a:spAutoFit/>
          </a:bodyPr>
          <a:lstStyle/>
          <a:p>
            <a:pPr algn="l">
              <a:lnSpc>
                <a:spcPts val="4389"/>
              </a:lnSpc>
            </a:pPr>
            <a:r>
              <a:rPr lang="en-US" sz="3135" b="true">
                <a:solidFill>
                  <a:srgbClr val="16263A"/>
                </a:solidFill>
                <a:latin typeface="Arimo Bold"/>
                <a:ea typeface="Arimo Bold"/>
                <a:cs typeface="Arimo Bold"/>
                <a:sym typeface="Arimo Bold"/>
              </a:rPr>
              <a:t>Phone 09 450 112 512</a:t>
            </a:r>
          </a:p>
        </p:txBody>
      </p:sp>
      <p:sp>
        <p:nvSpPr>
          <p:cNvPr name="TextBox 19" id="19"/>
          <p:cNvSpPr txBox="true"/>
          <p:nvPr/>
        </p:nvSpPr>
        <p:spPr>
          <a:xfrm rot="0">
            <a:off x="1334622" y="4540372"/>
            <a:ext cx="5351928" cy="3476787"/>
          </a:xfrm>
          <a:prstGeom prst="rect">
            <a:avLst/>
          </a:prstGeom>
        </p:spPr>
        <p:txBody>
          <a:bodyPr anchor="t" rtlCol="false" tIns="0" lIns="0" bIns="0" rIns="0">
            <a:spAutoFit/>
          </a:bodyPr>
          <a:lstStyle/>
          <a:p>
            <a:pPr algn="l">
              <a:lnSpc>
                <a:spcPts val="4622"/>
              </a:lnSpc>
              <a:spcBef>
                <a:spcPct val="0"/>
              </a:spcBef>
            </a:pPr>
            <a:r>
              <a:rPr lang="en-US" sz="3555">
                <a:solidFill>
                  <a:srgbClr val="000000"/>
                </a:solidFill>
                <a:latin typeface="Arimo"/>
                <a:ea typeface="Arimo"/>
                <a:cs typeface="Arimo"/>
                <a:sym typeface="Arimo"/>
              </a:rPr>
              <a:t>Ma Hnin 09 450</a:t>
            </a:r>
            <a:r>
              <a:rPr lang="en-US" sz="3555">
                <a:solidFill>
                  <a:srgbClr val="000000"/>
                </a:solidFill>
                <a:latin typeface="Arimo"/>
                <a:ea typeface="Arimo"/>
                <a:cs typeface="Arimo"/>
                <a:sym typeface="Arimo"/>
              </a:rPr>
              <a:t> 112 512</a:t>
            </a:r>
          </a:p>
          <a:p>
            <a:pPr algn="l">
              <a:lnSpc>
                <a:spcPts val="4622"/>
              </a:lnSpc>
              <a:spcBef>
                <a:spcPct val="0"/>
              </a:spcBef>
            </a:pPr>
            <a:r>
              <a:rPr lang="en-US" sz="3555">
                <a:solidFill>
                  <a:srgbClr val="000000"/>
                </a:solidFill>
                <a:latin typeface="Arimo"/>
                <a:ea typeface="Arimo"/>
                <a:cs typeface="Arimo"/>
                <a:sym typeface="Arimo"/>
              </a:rPr>
              <a:t>ကမာရွတ် Junction Square </a:t>
            </a:r>
          </a:p>
          <a:p>
            <a:pPr algn="l">
              <a:lnSpc>
                <a:spcPts val="4622"/>
              </a:lnSpc>
              <a:spcBef>
                <a:spcPct val="0"/>
              </a:spcBef>
            </a:pPr>
            <a:r>
              <a:rPr lang="en-US" sz="3555">
                <a:solidFill>
                  <a:srgbClr val="000000"/>
                </a:solidFill>
                <a:latin typeface="Arimo"/>
                <a:ea typeface="Arimo"/>
                <a:cs typeface="Arimo"/>
                <a:sym typeface="Arimo"/>
              </a:rPr>
              <a:t>နောက်ဘက်</a:t>
            </a:r>
          </a:p>
          <a:p>
            <a:pPr algn="l">
              <a:lnSpc>
                <a:spcPts val="4622"/>
              </a:lnSpc>
              <a:spcBef>
                <a:spcPct val="0"/>
              </a:spcBef>
            </a:pPr>
            <a:r>
              <a:rPr lang="en-US" sz="3555">
                <a:solidFill>
                  <a:srgbClr val="000000"/>
                </a:solidFill>
                <a:latin typeface="Arimo"/>
                <a:ea typeface="Arimo"/>
                <a:cs typeface="Arimo"/>
                <a:sym typeface="Arimo"/>
              </a:rPr>
              <a:t>COD ?</a:t>
            </a:r>
          </a:p>
          <a:p>
            <a:pPr algn="l">
              <a:lnSpc>
                <a:spcPts val="4622"/>
              </a:lnSpc>
              <a:spcBef>
                <a:spcPct val="0"/>
              </a:spcBef>
            </a:pPr>
          </a:p>
          <a:p>
            <a:pPr algn="l">
              <a:lnSpc>
                <a:spcPts val="4622"/>
              </a:lnSpc>
              <a:spcBef>
                <a:spcPct val="0"/>
              </a:spcBef>
            </a:pPr>
          </a:p>
        </p:txBody>
      </p:sp>
      <p:grpSp>
        <p:nvGrpSpPr>
          <p:cNvPr name="Group 20" id="20"/>
          <p:cNvGrpSpPr/>
          <p:nvPr/>
        </p:nvGrpSpPr>
        <p:grpSpPr>
          <a:xfrm rot="0">
            <a:off x="8685222" y="5642198"/>
            <a:ext cx="8440699" cy="1330286"/>
            <a:chOff x="0" y="0"/>
            <a:chExt cx="10769600" cy="1697330"/>
          </a:xfrm>
        </p:grpSpPr>
        <p:sp>
          <p:nvSpPr>
            <p:cNvPr name="Freeform 21" id="21"/>
            <p:cNvSpPr/>
            <p:nvPr/>
          </p:nvSpPr>
          <p:spPr>
            <a:xfrm flipH="false" flipV="false" rot="0">
              <a:off x="0" y="0"/>
              <a:ext cx="10769600" cy="1697330"/>
            </a:xfrm>
            <a:custGeom>
              <a:avLst/>
              <a:gdLst/>
              <a:ahLst/>
              <a:cxnLst/>
              <a:rect r="r" b="b" t="t" l="l"/>
              <a:pathLst>
                <a:path h="1697330" w="10769600">
                  <a:moveTo>
                    <a:pt x="0" y="298576"/>
                  </a:moveTo>
                  <a:cubicBezTo>
                    <a:pt x="0" y="133626"/>
                    <a:pt x="109982" y="0"/>
                    <a:pt x="245745" y="0"/>
                  </a:cubicBezTo>
                  <a:lnTo>
                    <a:pt x="10523855" y="0"/>
                  </a:lnTo>
                  <a:cubicBezTo>
                    <a:pt x="10659618" y="0"/>
                    <a:pt x="10769600" y="133626"/>
                    <a:pt x="10769600" y="298576"/>
                  </a:cubicBezTo>
                  <a:lnTo>
                    <a:pt x="10769600" y="1398754"/>
                  </a:lnTo>
                  <a:cubicBezTo>
                    <a:pt x="10769600" y="1563703"/>
                    <a:pt x="10659618" y="1697330"/>
                    <a:pt x="10523855" y="1697330"/>
                  </a:cubicBezTo>
                  <a:lnTo>
                    <a:pt x="245745" y="1697330"/>
                  </a:lnTo>
                  <a:cubicBezTo>
                    <a:pt x="109982" y="1697330"/>
                    <a:pt x="0" y="1563703"/>
                    <a:pt x="0" y="1398754"/>
                  </a:cubicBezTo>
                  <a:close/>
                </a:path>
              </a:pathLst>
            </a:custGeom>
            <a:solidFill>
              <a:srgbClr val="FFFBF3"/>
            </a:solidFill>
            <a:ln w="19050" cap="sq">
              <a:solidFill>
                <a:srgbClr val="E6D7BC"/>
              </a:solidFill>
              <a:prstDash val="solid"/>
              <a:miter/>
            </a:ln>
          </p:spPr>
        </p:sp>
      </p:grpSp>
      <p:grpSp>
        <p:nvGrpSpPr>
          <p:cNvPr name="Group 22" id="22"/>
          <p:cNvGrpSpPr/>
          <p:nvPr/>
        </p:nvGrpSpPr>
        <p:grpSpPr>
          <a:xfrm rot="0">
            <a:off x="14211300" y="6018685"/>
            <a:ext cx="2547927" cy="577312"/>
            <a:chOff x="0" y="0"/>
            <a:chExt cx="3250933" cy="736600"/>
          </a:xfrm>
        </p:grpSpPr>
        <p:sp>
          <p:nvSpPr>
            <p:cNvPr name="Freeform 23" id="23"/>
            <p:cNvSpPr/>
            <p:nvPr/>
          </p:nvSpPr>
          <p:spPr>
            <a:xfrm flipH="false" flipV="false" rot="0">
              <a:off x="0" y="0"/>
              <a:ext cx="3250946" cy="736600"/>
            </a:xfrm>
            <a:custGeom>
              <a:avLst/>
              <a:gdLst/>
              <a:ahLst/>
              <a:cxnLst/>
              <a:rect r="r" b="b" t="t" l="l"/>
              <a:pathLst>
                <a:path h="736600" w="3250946">
                  <a:moveTo>
                    <a:pt x="0" y="368300"/>
                  </a:moveTo>
                  <a:cubicBezTo>
                    <a:pt x="0" y="164846"/>
                    <a:pt x="164846" y="0"/>
                    <a:pt x="368300" y="0"/>
                  </a:cubicBezTo>
                  <a:lnTo>
                    <a:pt x="2882646" y="0"/>
                  </a:lnTo>
                  <a:cubicBezTo>
                    <a:pt x="3086100" y="0"/>
                    <a:pt x="3250946" y="164846"/>
                    <a:pt x="3250946" y="368300"/>
                  </a:cubicBezTo>
                  <a:cubicBezTo>
                    <a:pt x="3250946" y="571754"/>
                    <a:pt x="3086100" y="736600"/>
                    <a:pt x="2882646" y="736600"/>
                  </a:cubicBezTo>
                  <a:lnTo>
                    <a:pt x="368300" y="736600"/>
                  </a:lnTo>
                  <a:cubicBezTo>
                    <a:pt x="164846" y="736600"/>
                    <a:pt x="0" y="571754"/>
                    <a:pt x="0" y="368300"/>
                  </a:cubicBezTo>
                  <a:close/>
                </a:path>
              </a:pathLst>
            </a:custGeom>
            <a:solidFill>
              <a:srgbClr val="FCE7C0"/>
            </a:solidFill>
          </p:spPr>
        </p:sp>
        <p:sp>
          <p:nvSpPr>
            <p:cNvPr name="TextBox 24" id="24"/>
            <p:cNvSpPr txBox="true"/>
            <p:nvPr/>
          </p:nvSpPr>
          <p:spPr>
            <a:xfrm>
              <a:off x="0" y="-57150"/>
              <a:ext cx="3250933" cy="793750"/>
            </a:xfrm>
            <a:prstGeom prst="rect">
              <a:avLst/>
            </a:prstGeom>
          </p:spPr>
          <p:txBody>
            <a:bodyPr anchor="ctr" rtlCol="false" tIns="50800" lIns="50800" bIns="50800" rIns="50800"/>
            <a:lstStyle/>
            <a:p>
              <a:pPr algn="ctr">
                <a:lnSpc>
                  <a:spcPts val="3149"/>
                </a:lnSpc>
              </a:pPr>
              <a:r>
                <a:rPr lang="en-US" sz="2250" b="true">
                  <a:solidFill>
                    <a:srgbClr val="7A4A00"/>
                  </a:solidFill>
                  <a:latin typeface="Arimo Bold"/>
                  <a:ea typeface="Arimo Bold"/>
                  <a:cs typeface="Arimo Bold"/>
                  <a:sym typeface="Arimo Bold"/>
                </a:rPr>
                <a:t>Amber · Check</a:t>
              </a:r>
            </a:p>
          </p:txBody>
        </p:sp>
      </p:grpSp>
      <p:sp>
        <p:nvSpPr>
          <p:cNvPr name="TextBox 25" id="25"/>
          <p:cNvSpPr txBox="true"/>
          <p:nvPr/>
        </p:nvSpPr>
        <p:spPr>
          <a:xfrm rot="0">
            <a:off x="9144000" y="5922577"/>
            <a:ext cx="4275463" cy="673419"/>
          </a:xfrm>
          <a:prstGeom prst="rect">
            <a:avLst/>
          </a:prstGeom>
        </p:spPr>
        <p:txBody>
          <a:bodyPr anchor="t" rtlCol="false" tIns="0" lIns="0" bIns="0" rIns="0">
            <a:spAutoFit/>
          </a:bodyPr>
          <a:lstStyle/>
          <a:p>
            <a:pPr algn="l">
              <a:lnSpc>
                <a:spcPts val="4389"/>
              </a:lnSpc>
            </a:pPr>
            <a:r>
              <a:rPr lang="en-US" sz="3135" b="true">
                <a:solidFill>
                  <a:srgbClr val="16263A"/>
                </a:solidFill>
                <a:latin typeface="Arimo Bold"/>
                <a:ea typeface="Arimo Bold"/>
                <a:cs typeface="Arimo Bold"/>
                <a:sym typeface="Arimo Bold"/>
              </a:rPr>
              <a:t>Township Kamayut</a:t>
            </a:r>
          </a:p>
        </p:txBody>
      </p:sp>
      <p:grpSp>
        <p:nvGrpSpPr>
          <p:cNvPr name="Group 26" id="26"/>
          <p:cNvGrpSpPr/>
          <p:nvPr/>
        </p:nvGrpSpPr>
        <p:grpSpPr>
          <a:xfrm rot="0">
            <a:off x="8685222" y="7536923"/>
            <a:ext cx="8440699" cy="1330286"/>
            <a:chOff x="0" y="0"/>
            <a:chExt cx="10769600" cy="1697330"/>
          </a:xfrm>
        </p:grpSpPr>
        <p:sp>
          <p:nvSpPr>
            <p:cNvPr name="Freeform 27" id="27"/>
            <p:cNvSpPr/>
            <p:nvPr/>
          </p:nvSpPr>
          <p:spPr>
            <a:xfrm flipH="false" flipV="false" rot="0">
              <a:off x="0" y="0"/>
              <a:ext cx="10769600" cy="1697330"/>
            </a:xfrm>
            <a:custGeom>
              <a:avLst/>
              <a:gdLst/>
              <a:ahLst/>
              <a:cxnLst/>
              <a:rect r="r" b="b" t="t" l="l"/>
              <a:pathLst>
                <a:path h="1697330" w="10769600">
                  <a:moveTo>
                    <a:pt x="0" y="298576"/>
                  </a:moveTo>
                  <a:cubicBezTo>
                    <a:pt x="0" y="133626"/>
                    <a:pt x="109982" y="0"/>
                    <a:pt x="245745" y="0"/>
                  </a:cubicBezTo>
                  <a:lnTo>
                    <a:pt x="10523855" y="0"/>
                  </a:lnTo>
                  <a:cubicBezTo>
                    <a:pt x="10659618" y="0"/>
                    <a:pt x="10769600" y="133626"/>
                    <a:pt x="10769600" y="298576"/>
                  </a:cubicBezTo>
                  <a:lnTo>
                    <a:pt x="10769600" y="1398754"/>
                  </a:lnTo>
                  <a:cubicBezTo>
                    <a:pt x="10769600" y="1563703"/>
                    <a:pt x="10659618" y="1697330"/>
                    <a:pt x="10523855" y="1697330"/>
                  </a:cubicBezTo>
                  <a:lnTo>
                    <a:pt x="245745" y="1697330"/>
                  </a:lnTo>
                  <a:cubicBezTo>
                    <a:pt x="109982" y="1697330"/>
                    <a:pt x="0" y="1563703"/>
                    <a:pt x="0" y="1398754"/>
                  </a:cubicBezTo>
                  <a:close/>
                </a:path>
              </a:pathLst>
            </a:custGeom>
            <a:solidFill>
              <a:srgbClr val="FFFBF3"/>
            </a:solidFill>
            <a:ln w="19050" cap="sq">
              <a:solidFill>
                <a:srgbClr val="E6D7BC"/>
              </a:solidFill>
              <a:prstDash val="solid"/>
              <a:miter/>
            </a:ln>
          </p:spPr>
        </p:sp>
      </p:grpSp>
      <p:sp>
        <p:nvSpPr>
          <p:cNvPr name="TextBox 28" id="28"/>
          <p:cNvSpPr txBox="true"/>
          <p:nvPr/>
        </p:nvSpPr>
        <p:spPr>
          <a:xfrm rot="0">
            <a:off x="8991600" y="7827256"/>
            <a:ext cx="3748546" cy="673419"/>
          </a:xfrm>
          <a:prstGeom prst="rect">
            <a:avLst/>
          </a:prstGeom>
        </p:spPr>
        <p:txBody>
          <a:bodyPr anchor="t" rtlCol="false" tIns="0" lIns="0" bIns="0" rIns="0">
            <a:spAutoFit/>
          </a:bodyPr>
          <a:lstStyle/>
          <a:p>
            <a:pPr algn="l">
              <a:lnSpc>
                <a:spcPts val="4389"/>
              </a:lnSpc>
            </a:pPr>
            <a:r>
              <a:rPr lang="en-US" sz="3135" b="true">
                <a:solidFill>
                  <a:srgbClr val="16263A"/>
                </a:solidFill>
                <a:latin typeface="Arimo Bold"/>
                <a:ea typeface="Arimo Bold"/>
                <a:cs typeface="Arimo Bold"/>
                <a:sym typeface="Arimo Bold"/>
              </a:rPr>
              <a:t>Cash on delivery</a:t>
            </a:r>
          </a:p>
        </p:txBody>
      </p:sp>
      <p:grpSp>
        <p:nvGrpSpPr>
          <p:cNvPr name="Group 29" id="29"/>
          <p:cNvGrpSpPr/>
          <p:nvPr/>
        </p:nvGrpSpPr>
        <p:grpSpPr>
          <a:xfrm rot="0">
            <a:off x="14307831" y="7858302"/>
            <a:ext cx="2354865" cy="687528"/>
            <a:chOff x="0" y="0"/>
            <a:chExt cx="3004604" cy="877226"/>
          </a:xfrm>
        </p:grpSpPr>
        <p:sp>
          <p:nvSpPr>
            <p:cNvPr name="Freeform 30" id="30"/>
            <p:cNvSpPr/>
            <p:nvPr/>
          </p:nvSpPr>
          <p:spPr>
            <a:xfrm flipH="false" flipV="false" rot="0">
              <a:off x="0" y="0"/>
              <a:ext cx="3004566" cy="877226"/>
            </a:xfrm>
            <a:custGeom>
              <a:avLst/>
              <a:gdLst/>
              <a:ahLst/>
              <a:cxnLst/>
              <a:rect r="r" b="b" t="t" l="l"/>
              <a:pathLst>
                <a:path h="877226" w="3004566">
                  <a:moveTo>
                    <a:pt x="0" y="438613"/>
                  </a:moveTo>
                  <a:cubicBezTo>
                    <a:pt x="0" y="196317"/>
                    <a:pt x="164846" y="0"/>
                    <a:pt x="368300" y="0"/>
                  </a:cubicBezTo>
                  <a:lnTo>
                    <a:pt x="2636266" y="0"/>
                  </a:lnTo>
                  <a:cubicBezTo>
                    <a:pt x="2839720" y="0"/>
                    <a:pt x="3004566" y="196317"/>
                    <a:pt x="3004566" y="438613"/>
                  </a:cubicBezTo>
                  <a:cubicBezTo>
                    <a:pt x="3004566" y="680909"/>
                    <a:pt x="2839720" y="877226"/>
                    <a:pt x="2636266" y="877226"/>
                  </a:cubicBezTo>
                  <a:lnTo>
                    <a:pt x="368300" y="877226"/>
                  </a:lnTo>
                  <a:cubicBezTo>
                    <a:pt x="164846" y="877226"/>
                    <a:pt x="0" y="680909"/>
                    <a:pt x="0" y="438613"/>
                  </a:cubicBezTo>
                  <a:close/>
                </a:path>
              </a:pathLst>
            </a:custGeom>
            <a:solidFill>
              <a:srgbClr val="FBE0DC"/>
            </a:solidFill>
          </p:spPr>
        </p:sp>
        <p:sp>
          <p:nvSpPr>
            <p:cNvPr name="TextBox 31" id="31"/>
            <p:cNvSpPr txBox="true"/>
            <p:nvPr/>
          </p:nvSpPr>
          <p:spPr>
            <a:xfrm>
              <a:off x="0" y="-57150"/>
              <a:ext cx="3004604" cy="934376"/>
            </a:xfrm>
            <a:prstGeom prst="rect">
              <a:avLst/>
            </a:prstGeom>
          </p:spPr>
          <p:txBody>
            <a:bodyPr anchor="ctr" rtlCol="false" tIns="50800" lIns="50800" bIns="50800" rIns="50800"/>
            <a:lstStyle/>
            <a:p>
              <a:pPr algn="ctr">
                <a:lnSpc>
                  <a:spcPts val="3149"/>
                </a:lnSpc>
              </a:pPr>
              <a:r>
                <a:rPr lang="en-US" sz="2250" b="true">
                  <a:solidFill>
                    <a:srgbClr val="A8281C"/>
                  </a:solidFill>
                  <a:latin typeface="Arimo Bold"/>
                  <a:ea typeface="Arimo Bold"/>
                  <a:cs typeface="Arimo Bold"/>
                  <a:sym typeface="Arimo Bold"/>
                </a:rPr>
                <a:t>Red · Missing</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E4"/>
        </a:solidFill>
      </p:bgPr>
    </p:bg>
    <p:spTree>
      <p:nvGrpSpPr>
        <p:cNvPr id="1" name=""/>
        <p:cNvGrpSpPr/>
        <p:nvPr/>
      </p:nvGrpSpPr>
      <p:grpSpPr>
        <a:xfrm>
          <a:off x="0" y="0"/>
          <a:ext cx="0" cy="0"/>
          <a:chOff x="0" y="0"/>
          <a:chExt cx="0" cy="0"/>
        </a:xfrm>
      </p:grpSpPr>
      <p:grpSp>
        <p:nvGrpSpPr>
          <p:cNvPr name="Group 2" id="2"/>
          <p:cNvGrpSpPr/>
          <p:nvPr/>
        </p:nvGrpSpPr>
        <p:grpSpPr>
          <a:xfrm rot="0">
            <a:off x="14211300" y="533400"/>
            <a:ext cx="2857500" cy="923925"/>
            <a:chOff x="0" y="0"/>
            <a:chExt cx="3810000" cy="1231900"/>
          </a:xfrm>
        </p:grpSpPr>
        <p:sp>
          <p:nvSpPr>
            <p:cNvPr name="Freeform 3" id="3" descr="LannPya logo"/>
            <p:cNvSpPr/>
            <p:nvPr/>
          </p:nvSpPr>
          <p:spPr>
            <a:xfrm flipH="false" flipV="false" rot="0">
              <a:off x="0" y="0"/>
              <a:ext cx="3810000" cy="1231900"/>
            </a:xfrm>
            <a:custGeom>
              <a:avLst/>
              <a:gdLst/>
              <a:ahLst/>
              <a:cxnLst/>
              <a:rect r="r" b="b" t="t" l="l"/>
              <a:pathLst>
                <a:path h="1231900" w="3810000">
                  <a:moveTo>
                    <a:pt x="0" y="0"/>
                  </a:moveTo>
                  <a:lnTo>
                    <a:pt x="3810000" y="0"/>
                  </a:lnTo>
                  <a:lnTo>
                    <a:pt x="3810000" y="1231900"/>
                  </a:lnTo>
                  <a:lnTo>
                    <a:pt x="0" y="1231900"/>
                  </a:lnTo>
                  <a:lnTo>
                    <a:pt x="0" y="0"/>
                  </a:lnTo>
                  <a:close/>
                </a:path>
              </a:pathLst>
            </a:custGeom>
            <a:blipFill>
              <a:blip r:embed="rId3"/>
              <a:stretch>
                <a:fillRect l="18" t="0" r="18" b="0"/>
              </a:stretch>
            </a:blipFill>
          </p:spPr>
        </p:sp>
      </p:grpSp>
      <p:sp>
        <p:nvSpPr>
          <p:cNvPr name="TextBox 4" id="4"/>
          <p:cNvSpPr txBox="true"/>
          <p:nvPr/>
        </p:nvSpPr>
        <p:spPr>
          <a:xfrm rot="0">
            <a:off x="478909" y="971550"/>
            <a:ext cx="16325088" cy="521894"/>
          </a:xfrm>
          <a:prstGeom prst="rect">
            <a:avLst/>
          </a:prstGeom>
        </p:spPr>
        <p:txBody>
          <a:bodyPr anchor="t" rtlCol="false" tIns="0" lIns="0" bIns="0" rIns="0">
            <a:spAutoFit/>
          </a:bodyPr>
          <a:lstStyle/>
          <a:p>
            <a:pPr algn="l">
              <a:lnSpc>
                <a:spcPts val="3359"/>
              </a:lnSpc>
            </a:pPr>
            <a:r>
              <a:rPr lang="en-US" b="true" sz="2400" spc="150">
                <a:solidFill>
                  <a:srgbClr val="A86500"/>
                </a:solidFill>
                <a:latin typeface="Arimo Bold"/>
                <a:ea typeface="Arimo Bold"/>
                <a:cs typeface="Arimo Bold"/>
                <a:sym typeface="Arimo Bold"/>
              </a:rPr>
              <a:t>STEPS 2 AND 3 · CONFIRM, DELIVER, CLOSE OUT</a:t>
            </a:r>
          </a:p>
        </p:txBody>
      </p:sp>
      <p:sp>
        <p:nvSpPr>
          <p:cNvPr name="TextBox 5" id="5"/>
          <p:cNvSpPr txBox="true"/>
          <p:nvPr/>
        </p:nvSpPr>
        <p:spPr>
          <a:xfrm rot="0">
            <a:off x="478909" y="1699506"/>
            <a:ext cx="16325088" cy="832447"/>
          </a:xfrm>
          <a:prstGeom prst="rect">
            <a:avLst/>
          </a:prstGeom>
        </p:spPr>
        <p:txBody>
          <a:bodyPr anchor="t" rtlCol="false" tIns="0" lIns="0" bIns="0" rIns="0">
            <a:spAutoFit/>
          </a:bodyPr>
          <a:lstStyle/>
          <a:p>
            <a:pPr algn="l">
              <a:lnSpc>
                <a:spcPts val="6930"/>
              </a:lnSpc>
            </a:pPr>
            <a:r>
              <a:rPr lang="en-US" b="true" sz="6600" spc="-74">
                <a:solidFill>
                  <a:srgbClr val="16263A"/>
                </a:solidFill>
                <a:latin typeface="Inter Bold"/>
                <a:ea typeface="Inter Bold"/>
                <a:cs typeface="Inter Bold"/>
                <a:sym typeface="Inter Bold"/>
              </a:rPr>
              <a:t>Buyer confirms. Rider delivers.</a:t>
            </a:r>
          </a:p>
        </p:txBody>
      </p:sp>
      <p:grpSp>
        <p:nvGrpSpPr>
          <p:cNvPr name="Group 6" id="6"/>
          <p:cNvGrpSpPr/>
          <p:nvPr/>
        </p:nvGrpSpPr>
        <p:grpSpPr>
          <a:xfrm rot="0">
            <a:off x="478909" y="2964066"/>
            <a:ext cx="4564086" cy="6506017"/>
            <a:chOff x="0" y="0"/>
            <a:chExt cx="5283200" cy="7531100"/>
          </a:xfrm>
        </p:grpSpPr>
        <p:sp>
          <p:nvSpPr>
            <p:cNvPr name="Freeform 7" id="7" descr="Buyer link screen: confirm where and when, after checking the last 4 digits of the phone"/>
            <p:cNvSpPr/>
            <p:nvPr/>
          </p:nvSpPr>
          <p:spPr>
            <a:xfrm flipH="false" flipV="false" rot="0">
              <a:off x="0" y="0"/>
              <a:ext cx="5283200" cy="7531100"/>
            </a:xfrm>
            <a:custGeom>
              <a:avLst/>
              <a:gdLst/>
              <a:ahLst/>
              <a:cxnLst/>
              <a:rect r="r" b="b" t="t" l="l"/>
              <a:pathLst>
                <a:path h="7531100" w="5283200">
                  <a:moveTo>
                    <a:pt x="0" y="0"/>
                  </a:moveTo>
                  <a:lnTo>
                    <a:pt x="5283200" y="0"/>
                  </a:lnTo>
                  <a:lnTo>
                    <a:pt x="5283200" y="7531100"/>
                  </a:lnTo>
                  <a:lnTo>
                    <a:pt x="0" y="7531100"/>
                  </a:lnTo>
                  <a:lnTo>
                    <a:pt x="0" y="0"/>
                  </a:lnTo>
                  <a:close/>
                </a:path>
              </a:pathLst>
            </a:custGeom>
            <a:blipFill>
              <a:blip r:embed="rId4"/>
              <a:stretch>
                <a:fillRect l="-174" t="0" r="-175" b="0"/>
              </a:stretch>
            </a:blipFill>
          </p:spPr>
        </p:sp>
      </p:grpSp>
      <p:grpSp>
        <p:nvGrpSpPr>
          <p:cNvPr name="Group 8" id="8"/>
          <p:cNvGrpSpPr/>
          <p:nvPr/>
        </p:nvGrpSpPr>
        <p:grpSpPr>
          <a:xfrm rot="0">
            <a:off x="5957763" y="2990006"/>
            <a:ext cx="3532778" cy="6506017"/>
            <a:chOff x="0" y="0"/>
            <a:chExt cx="4089400" cy="7531100"/>
          </a:xfrm>
        </p:grpSpPr>
        <p:sp>
          <p:nvSpPr>
            <p:cNvPr name="Freeform 9" id="9" descr="Rider screen: next stop with landmark, cash to collect and a Delivered button"/>
            <p:cNvSpPr/>
            <p:nvPr/>
          </p:nvSpPr>
          <p:spPr>
            <a:xfrm flipH="false" flipV="false" rot="0">
              <a:off x="0" y="0"/>
              <a:ext cx="4089400" cy="7531100"/>
            </a:xfrm>
            <a:custGeom>
              <a:avLst/>
              <a:gdLst/>
              <a:ahLst/>
              <a:cxnLst/>
              <a:rect r="r" b="b" t="t" l="l"/>
              <a:pathLst>
                <a:path h="7531100" w="4089400">
                  <a:moveTo>
                    <a:pt x="0" y="0"/>
                  </a:moveTo>
                  <a:lnTo>
                    <a:pt x="4089400" y="0"/>
                  </a:lnTo>
                  <a:lnTo>
                    <a:pt x="4089400" y="7531100"/>
                  </a:lnTo>
                  <a:lnTo>
                    <a:pt x="0" y="7531100"/>
                  </a:lnTo>
                  <a:lnTo>
                    <a:pt x="0" y="0"/>
                  </a:lnTo>
                  <a:close/>
                </a:path>
              </a:pathLst>
            </a:custGeom>
            <a:blipFill>
              <a:blip r:embed="rId5"/>
              <a:stretch>
                <a:fillRect l="-295" t="0" r="-296" b="0"/>
              </a:stretch>
            </a:blipFill>
          </p:spPr>
        </p:sp>
      </p:grpSp>
      <p:grpSp>
        <p:nvGrpSpPr>
          <p:cNvPr name="Group 10" id="10"/>
          <p:cNvGrpSpPr/>
          <p:nvPr/>
        </p:nvGrpSpPr>
        <p:grpSpPr>
          <a:xfrm rot="0">
            <a:off x="5766046" y="2821958"/>
            <a:ext cx="3916213" cy="6893993"/>
            <a:chOff x="0" y="0"/>
            <a:chExt cx="4407786" cy="7759344"/>
          </a:xfrm>
        </p:grpSpPr>
        <p:sp>
          <p:nvSpPr>
            <p:cNvPr name="Freeform 11" id="11"/>
            <p:cNvSpPr/>
            <p:nvPr/>
          </p:nvSpPr>
          <p:spPr>
            <a:xfrm flipH="false" flipV="false" rot="0">
              <a:off x="0" y="0"/>
              <a:ext cx="4407786" cy="7759344"/>
            </a:xfrm>
            <a:custGeom>
              <a:avLst/>
              <a:gdLst/>
              <a:ahLst/>
              <a:cxnLst/>
              <a:rect r="r" b="b" t="t" l="l"/>
              <a:pathLst>
                <a:path h="7759344" w="4407786">
                  <a:moveTo>
                    <a:pt x="0" y="353135"/>
                  </a:moveTo>
                  <a:cubicBezTo>
                    <a:pt x="0" y="158046"/>
                    <a:pt x="164413" y="0"/>
                    <a:pt x="367361" y="0"/>
                  </a:cubicBezTo>
                  <a:lnTo>
                    <a:pt x="4040425" y="0"/>
                  </a:lnTo>
                  <a:cubicBezTo>
                    <a:pt x="4243373" y="0"/>
                    <a:pt x="4407786" y="158046"/>
                    <a:pt x="4407786" y="353135"/>
                  </a:cubicBezTo>
                  <a:lnTo>
                    <a:pt x="4407786" y="7406210"/>
                  </a:lnTo>
                  <a:cubicBezTo>
                    <a:pt x="4407786" y="7601169"/>
                    <a:pt x="4243373" y="7759344"/>
                    <a:pt x="4040425" y="7759344"/>
                  </a:cubicBezTo>
                  <a:lnTo>
                    <a:pt x="367361" y="7759344"/>
                  </a:lnTo>
                  <a:cubicBezTo>
                    <a:pt x="164413" y="7759344"/>
                    <a:pt x="0" y="7601299"/>
                    <a:pt x="0" y="7406210"/>
                  </a:cubicBezTo>
                  <a:close/>
                </a:path>
              </a:pathLst>
            </a:custGeom>
            <a:blipFill>
              <a:blip r:embed="rId6">
                <a:alphaModFix amt="0"/>
              </a:blip>
              <a:stretch>
                <a:fillRect l="-173732" t="0" r="-167661" b="2286"/>
              </a:stretch>
            </a:blipFill>
            <a:ln w="19050" cap="sq">
              <a:solidFill>
                <a:srgbClr val="E6D7BC"/>
              </a:solidFill>
              <a:prstDash val="solid"/>
              <a:miter/>
            </a:ln>
          </p:spPr>
        </p:sp>
      </p:grpSp>
      <p:sp>
        <p:nvSpPr>
          <p:cNvPr name="AutoShape 12" id="12"/>
          <p:cNvSpPr/>
          <p:nvPr/>
        </p:nvSpPr>
        <p:spPr>
          <a:xfrm>
            <a:off x="9975809" y="2965690"/>
            <a:ext cx="96940" cy="1417585"/>
          </a:xfrm>
          <a:prstGeom prst="line">
            <a:avLst/>
          </a:prstGeom>
          <a:ln cap="rnd" w="47625">
            <a:solidFill>
              <a:srgbClr val="F0A032"/>
            </a:solidFill>
            <a:prstDash val="solid"/>
            <a:headEnd type="none" len="sm" w="sm"/>
            <a:tailEnd type="none" len="sm" w="sm"/>
          </a:ln>
        </p:spPr>
      </p:sp>
      <p:sp>
        <p:nvSpPr>
          <p:cNvPr name="TextBox 13" id="13"/>
          <p:cNvSpPr txBox="true"/>
          <p:nvPr/>
        </p:nvSpPr>
        <p:spPr>
          <a:xfrm rot="0">
            <a:off x="10412022" y="3062638"/>
            <a:ext cx="2637504" cy="654327"/>
          </a:xfrm>
          <a:prstGeom prst="rect">
            <a:avLst/>
          </a:prstGeom>
        </p:spPr>
        <p:txBody>
          <a:bodyPr anchor="t" rtlCol="false" tIns="0" lIns="0" bIns="0" rIns="0">
            <a:spAutoFit/>
          </a:bodyPr>
          <a:lstStyle/>
          <a:p>
            <a:pPr algn="l">
              <a:lnSpc>
                <a:spcPts val="5190"/>
              </a:lnSpc>
            </a:pPr>
            <a:r>
              <a:rPr lang="en-US" sz="4325" b="true">
                <a:solidFill>
                  <a:srgbClr val="16263A"/>
                </a:solidFill>
                <a:latin typeface="Inter Bold"/>
                <a:ea typeface="Inter Bold"/>
                <a:cs typeface="Inter Bold"/>
                <a:sym typeface="Inter Bold"/>
              </a:rPr>
              <a:t>Buyer link</a:t>
            </a:r>
          </a:p>
        </p:txBody>
      </p:sp>
      <p:sp>
        <p:nvSpPr>
          <p:cNvPr name="TextBox 14" id="14"/>
          <p:cNvSpPr txBox="true"/>
          <p:nvPr/>
        </p:nvSpPr>
        <p:spPr>
          <a:xfrm rot="0">
            <a:off x="10412022" y="3703160"/>
            <a:ext cx="10009509" cy="550084"/>
          </a:xfrm>
          <a:prstGeom prst="rect">
            <a:avLst/>
          </a:prstGeom>
        </p:spPr>
        <p:txBody>
          <a:bodyPr anchor="t" rtlCol="false" tIns="0" lIns="0" bIns="0" rIns="0">
            <a:spAutoFit/>
          </a:bodyPr>
          <a:lstStyle/>
          <a:p>
            <a:pPr algn="l">
              <a:lnSpc>
                <a:spcPts val="4382"/>
              </a:lnSpc>
            </a:pPr>
            <a:r>
              <a:rPr lang="en-US" sz="3371">
                <a:solidFill>
                  <a:srgbClr val="3D4B5C"/>
                </a:solidFill>
                <a:latin typeface="Arimo"/>
                <a:ea typeface="Arimo"/>
                <a:cs typeface="Arimo"/>
                <a:sym typeface="Arimo"/>
              </a:rPr>
              <a:t>Map pin, time window, note for the rider</a:t>
            </a:r>
          </a:p>
        </p:txBody>
      </p:sp>
      <p:sp>
        <p:nvSpPr>
          <p:cNvPr name="AutoShape 15" id="15"/>
          <p:cNvSpPr/>
          <p:nvPr/>
        </p:nvSpPr>
        <p:spPr>
          <a:xfrm>
            <a:off x="9975809" y="4528684"/>
            <a:ext cx="96940" cy="1417585"/>
          </a:xfrm>
          <a:prstGeom prst="line">
            <a:avLst/>
          </a:prstGeom>
          <a:ln cap="rnd" w="47625">
            <a:solidFill>
              <a:srgbClr val="16263A"/>
            </a:solidFill>
            <a:prstDash val="solid"/>
            <a:headEnd type="none" len="sm" w="sm"/>
            <a:tailEnd type="none" len="sm" w="sm"/>
          </a:ln>
        </p:spPr>
      </p:sp>
      <p:sp>
        <p:nvSpPr>
          <p:cNvPr name="TextBox 16" id="16"/>
          <p:cNvSpPr txBox="true"/>
          <p:nvPr/>
        </p:nvSpPr>
        <p:spPr>
          <a:xfrm rot="0">
            <a:off x="10412022" y="4625620"/>
            <a:ext cx="2900850" cy="654327"/>
          </a:xfrm>
          <a:prstGeom prst="rect">
            <a:avLst/>
          </a:prstGeom>
        </p:spPr>
        <p:txBody>
          <a:bodyPr anchor="t" rtlCol="false" tIns="0" lIns="0" bIns="0" rIns="0">
            <a:spAutoFit/>
          </a:bodyPr>
          <a:lstStyle/>
          <a:p>
            <a:pPr algn="l">
              <a:lnSpc>
                <a:spcPts val="5190"/>
              </a:lnSpc>
            </a:pPr>
            <a:r>
              <a:rPr lang="en-US" sz="4325" b="true">
                <a:solidFill>
                  <a:srgbClr val="16263A"/>
                </a:solidFill>
                <a:latin typeface="Inter Bold"/>
                <a:ea typeface="Inter Bold"/>
                <a:cs typeface="Inter Bold"/>
                <a:sym typeface="Inter Bold"/>
              </a:rPr>
              <a:t>Dispatcher</a:t>
            </a:r>
          </a:p>
        </p:txBody>
      </p:sp>
      <p:sp>
        <p:nvSpPr>
          <p:cNvPr name="TextBox 17" id="17"/>
          <p:cNvSpPr txBox="true"/>
          <p:nvPr/>
        </p:nvSpPr>
        <p:spPr>
          <a:xfrm rot="0">
            <a:off x="10412022" y="5266153"/>
            <a:ext cx="10009509" cy="550084"/>
          </a:xfrm>
          <a:prstGeom prst="rect">
            <a:avLst/>
          </a:prstGeom>
        </p:spPr>
        <p:txBody>
          <a:bodyPr anchor="t" rtlCol="false" tIns="0" lIns="0" bIns="0" rIns="0">
            <a:spAutoFit/>
          </a:bodyPr>
          <a:lstStyle/>
          <a:p>
            <a:pPr algn="l">
              <a:lnSpc>
                <a:spcPts val="4382"/>
              </a:lnSpc>
            </a:pPr>
            <a:r>
              <a:rPr lang="en-US" sz="3371">
                <a:solidFill>
                  <a:srgbClr val="3D4B5C"/>
                </a:solidFill>
                <a:latin typeface="Arimo"/>
                <a:ea typeface="Arimo"/>
                <a:cs typeface="Arimo"/>
                <a:sym typeface="Arimo"/>
              </a:rPr>
              <a:t>Reviews flags, offers the job</a:t>
            </a:r>
          </a:p>
        </p:txBody>
      </p:sp>
      <p:sp>
        <p:nvSpPr>
          <p:cNvPr name="AutoShape 18" id="18"/>
          <p:cNvSpPr/>
          <p:nvPr/>
        </p:nvSpPr>
        <p:spPr>
          <a:xfrm>
            <a:off x="9975809" y="6091678"/>
            <a:ext cx="96940" cy="1417585"/>
          </a:xfrm>
          <a:prstGeom prst="line">
            <a:avLst/>
          </a:prstGeom>
          <a:ln cap="rnd" w="47625">
            <a:solidFill>
              <a:srgbClr val="16263A"/>
            </a:solidFill>
            <a:prstDash val="solid"/>
            <a:headEnd type="none" len="sm" w="sm"/>
            <a:tailEnd type="none" len="sm" w="sm"/>
          </a:ln>
        </p:spPr>
      </p:sp>
      <p:sp>
        <p:nvSpPr>
          <p:cNvPr name="TextBox 19" id="19"/>
          <p:cNvSpPr txBox="true"/>
          <p:nvPr/>
        </p:nvSpPr>
        <p:spPr>
          <a:xfrm rot="0">
            <a:off x="10412022" y="6188614"/>
            <a:ext cx="1390647" cy="654327"/>
          </a:xfrm>
          <a:prstGeom prst="rect">
            <a:avLst/>
          </a:prstGeom>
        </p:spPr>
        <p:txBody>
          <a:bodyPr anchor="t" rtlCol="false" tIns="0" lIns="0" bIns="0" rIns="0">
            <a:spAutoFit/>
          </a:bodyPr>
          <a:lstStyle/>
          <a:p>
            <a:pPr algn="l">
              <a:lnSpc>
                <a:spcPts val="5190"/>
              </a:lnSpc>
            </a:pPr>
            <a:r>
              <a:rPr lang="en-US" sz="4325" b="true">
                <a:solidFill>
                  <a:srgbClr val="16263A"/>
                </a:solidFill>
                <a:latin typeface="Inter Bold"/>
                <a:ea typeface="Inter Bold"/>
                <a:cs typeface="Inter Bold"/>
                <a:sym typeface="Inter Bold"/>
              </a:rPr>
              <a:t>Rider</a:t>
            </a:r>
          </a:p>
        </p:txBody>
      </p:sp>
      <p:sp>
        <p:nvSpPr>
          <p:cNvPr name="TextBox 20" id="20"/>
          <p:cNvSpPr txBox="true"/>
          <p:nvPr/>
        </p:nvSpPr>
        <p:spPr>
          <a:xfrm rot="0">
            <a:off x="10412022" y="6829135"/>
            <a:ext cx="10009509" cy="550084"/>
          </a:xfrm>
          <a:prstGeom prst="rect">
            <a:avLst/>
          </a:prstGeom>
        </p:spPr>
        <p:txBody>
          <a:bodyPr anchor="t" rtlCol="false" tIns="0" lIns="0" bIns="0" rIns="0">
            <a:spAutoFit/>
          </a:bodyPr>
          <a:lstStyle/>
          <a:p>
            <a:pPr algn="l">
              <a:lnSpc>
                <a:spcPts val="4382"/>
              </a:lnSpc>
            </a:pPr>
            <a:r>
              <a:rPr lang="en-US" sz="3371">
                <a:solidFill>
                  <a:srgbClr val="3D4B5C"/>
                </a:solidFill>
                <a:latin typeface="Arimo"/>
                <a:ea typeface="Arimo"/>
                <a:cs typeface="Arimo"/>
                <a:sym typeface="Arimo"/>
              </a:rPr>
              <a:t>Accepts, drops off, records cash</a:t>
            </a:r>
          </a:p>
        </p:txBody>
      </p:sp>
      <p:sp>
        <p:nvSpPr>
          <p:cNvPr name="AutoShape 21" id="21"/>
          <p:cNvSpPr/>
          <p:nvPr/>
        </p:nvSpPr>
        <p:spPr>
          <a:xfrm>
            <a:off x="9975809" y="7654659"/>
            <a:ext cx="96940" cy="1417585"/>
          </a:xfrm>
          <a:prstGeom prst="line">
            <a:avLst/>
          </a:prstGeom>
          <a:ln cap="rnd" w="47625">
            <a:solidFill>
              <a:srgbClr val="16263A"/>
            </a:solidFill>
            <a:prstDash val="solid"/>
            <a:headEnd type="none" len="sm" w="sm"/>
            <a:tailEnd type="none" len="sm" w="sm"/>
          </a:ln>
        </p:spPr>
      </p:sp>
      <p:sp>
        <p:nvSpPr>
          <p:cNvPr name="TextBox 22" id="22"/>
          <p:cNvSpPr txBox="true"/>
          <p:nvPr/>
        </p:nvSpPr>
        <p:spPr>
          <a:xfrm rot="0">
            <a:off x="10412022" y="7751595"/>
            <a:ext cx="1086304" cy="654327"/>
          </a:xfrm>
          <a:prstGeom prst="rect">
            <a:avLst/>
          </a:prstGeom>
        </p:spPr>
        <p:txBody>
          <a:bodyPr anchor="t" rtlCol="false" tIns="0" lIns="0" bIns="0" rIns="0">
            <a:spAutoFit/>
          </a:bodyPr>
          <a:lstStyle/>
          <a:p>
            <a:pPr algn="l">
              <a:lnSpc>
                <a:spcPts val="5190"/>
              </a:lnSpc>
            </a:pPr>
            <a:r>
              <a:rPr lang="en-US" sz="4325" b="true">
                <a:solidFill>
                  <a:srgbClr val="16263A"/>
                </a:solidFill>
                <a:latin typeface="Inter Bold"/>
                <a:ea typeface="Inter Bold"/>
                <a:cs typeface="Inter Bold"/>
                <a:sym typeface="Inter Bold"/>
              </a:rPr>
              <a:t>Hub</a:t>
            </a:r>
          </a:p>
        </p:txBody>
      </p:sp>
      <p:sp>
        <p:nvSpPr>
          <p:cNvPr name="TextBox 23" id="23"/>
          <p:cNvSpPr txBox="true"/>
          <p:nvPr/>
        </p:nvSpPr>
        <p:spPr>
          <a:xfrm rot="0">
            <a:off x="10412022" y="8392129"/>
            <a:ext cx="10009509" cy="550084"/>
          </a:xfrm>
          <a:prstGeom prst="rect">
            <a:avLst/>
          </a:prstGeom>
        </p:spPr>
        <p:txBody>
          <a:bodyPr anchor="t" rtlCol="false" tIns="0" lIns="0" bIns="0" rIns="0">
            <a:spAutoFit/>
          </a:bodyPr>
          <a:lstStyle/>
          <a:p>
            <a:pPr algn="l">
              <a:lnSpc>
                <a:spcPts val="4382"/>
              </a:lnSpc>
            </a:pPr>
            <a:r>
              <a:rPr lang="en-US" sz="3371">
                <a:solidFill>
                  <a:srgbClr val="3D4B5C"/>
                </a:solidFill>
                <a:latin typeface="Arimo"/>
                <a:ea typeface="Arimo"/>
                <a:cs typeface="Arimo"/>
                <a:sym typeface="Arimo"/>
              </a:rPr>
              <a:t>Checks receipts, closes out cash</a:t>
            </a:r>
          </a:p>
        </p:txBody>
      </p:sp>
      <p:grpSp>
        <p:nvGrpSpPr>
          <p:cNvPr name="Group 24" id="24"/>
          <p:cNvGrpSpPr/>
          <p:nvPr/>
        </p:nvGrpSpPr>
        <p:grpSpPr>
          <a:xfrm rot="0">
            <a:off x="324863" y="2770078"/>
            <a:ext cx="4983013" cy="6945873"/>
            <a:chOff x="0" y="0"/>
            <a:chExt cx="5608494" cy="7817736"/>
          </a:xfrm>
        </p:grpSpPr>
        <p:sp>
          <p:nvSpPr>
            <p:cNvPr name="Freeform 25" id="25"/>
            <p:cNvSpPr/>
            <p:nvPr/>
          </p:nvSpPr>
          <p:spPr>
            <a:xfrm flipH="false" flipV="false" rot="0">
              <a:off x="0" y="0"/>
              <a:ext cx="5608494" cy="7817737"/>
            </a:xfrm>
            <a:custGeom>
              <a:avLst/>
              <a:gdLst/>
              <a:ahLst/>
              <a:cxnLst/>
              <a:rect r="r" b="b" t="t" l="l"/>
              <a:pathLst>
                <a:path h="7817737" w="5608494">
                  <a:moveTo>
                    <a:pt x="0" y="355792"/>
                  </a:moveTo>
                  <a:cubicBezTo>
                    <a:pt x="0" y="159236"/>
                    <a:pt x="209200" y="0"/>
                    <a:pt x="467432" y="0"/>
                  </a:cubicBezTo>
                  <a:lnTo>
                    <a:pt x="5141062" y="0"/>
                  </a:lnTo>
                  <a:cubicBezTo>
                    <a:pt x="5399293" y="0"/>
                    <a:pt x="5608494" y="159236"/>
                    <a:pt x="5608494" y="355792"/>
                  </a:cubicBezTo>
                  <a:lnTo>
                    <a:pt x="5608494" y="7461945"/>
                  </a:lnTo>
                  <a:cubicBezTo>
                    <a:pt x="5608494" y="7658370"/>
                    <a:pt x="5399293" y="7817737"/>
                    <a:pt x="5141062" y="7817737"/>
                  </a:cubicBezTo>
                  <a:lnTo>
                    <a:pt x="467432" y="7817737"/>
                  </a:lnTo>
                  <a:cubicBezTo>
                    <a:pt x="209200" y="7817737"/>
                    <a:pt x="0" y="7658502"/>
                    <a:pt x="0" y="7461945"/>
                  </a:cubicBezTo>
                  <a:close/>
                </a:path>
              </a:pathLst>
            </a:custGeom>
            <a:blipFill>
              <a:blip r:embed="rId6">
                <a:alphaModFix amt="0"/>
              </a:blip>
              <a:stretch>
                <a:fillRect l="-136538" t="0" r="-110358" b="3016"/>
              </a:stretch>
            </a:blipFill>
            <a:ln w="19050" cap="sq">
              <a:solidFill>
                <a:srgbClr val="E6D7BC"/>
              </a:solidFill>
              <a:prstDash val="solid"/>
              <a:miter/>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A032"/>
        </a:solidFill>
      </p:bgPr>
    </p:bg>
    <p:spTree>
      <p:nvGrpSpPr>
        <p:cNvPr id="1" name=""/>
        <p:cNvGrpSpPr/>
        <p:nvPr/>
      </p:nvGrpSpPr>
      <p:grpSpPr>
        <a:xfrm>
          <a:off x="0" y="0"/>
          <a:ext cx="0" cy="0"/>
          <a:chOff x="0" y="0"/>
          <a:chExt cx="0" cy="0"/>
        </a:xfrm>
      </p:grpSpPr>
      <p:grpSp>
        <p:nvGrpSpPr>
          <p:cNvPr name="Group 2" id="2"/>
          <p:cNvGrpSpPr/>
          <p:nvPr/>
        </p:nvGrpSpPr>
        <p:grpSpPr>
          <a:xfrm rot="0">
            <a:off x="14211300" y="533400"/>
            <a:ext cx="2857500" cy="923925"/>
            <a:chOff x="0" y="0"/>
            <a:chExt cx="3810000" cy="1231900"/>
          </a:xfrm>
        </p:grpSpPr>
        <p:sp>
          <p:nvSpPr>
            <p:cNvPr name="Freeform 3" id="3" descr="LannPya logo"/>
            <p:cNvSpPr/>
            <p:nvPr/>
          </p:nvSpPr>
          <p:spPr>
            <a:xfrm flipH="false" flipV="false" rot="0">
              <a:off x="0" y="0"/>
              <a:ext cx="3810000" cy="1231900"/>
            </a:xfrm>
            <a:custGeom>
              <a:avLst/>
              <a:gdLst/>
              <a:ahLst/>
              <a:cxnLst/>
              <a:rect r="r" b="b" t="t" l="l"/>
              <a:pathLst>
                <a:path h="1231900" w="3810000">
                  <a:moveTo>
                    <a:pt x="0" y="0"/>
                  </a:moveTo>
                  <a:lnTo>
                    <a:pt x="3810000" y="0"/>
                  </a:lnTo>
                  <a:lnTo>
                    <a:pt x="3810000" y="1231900"/>
                  </a:lnTo>
                  <a:lnTo>
                    <a:pt x="0" y="1231900"/>
                  </a:lnTo>
                  <a:lnTo>
                    <a:pt x="0" y="0"/>
                  </a:lnTo>
                  <a:close/>
                </a:path>
              </a:pathLst>
            </a:custGeom>
            <a:blipFill>
              <a:blip r:embed="rId3"/>
              <a:stretch>
                <a:fillRect l="18" t="0" r="18" b="0"/>
              </a:stretch>
            </a:blipFill>
          </p:spPr>
        </p:sp>
      </p:grpSp>
      <p:sp>
        <p:nvSpPr>
          <p:cNvPr name="TextBox 4" id="4"/>
          <p:cNvSpPr txBox="true"/>
          <p:nvPr/>
        </p:nvSpPr>
        <p:spPr>
          <a:xfrm rot="0">
            <a:off x="1219200" y="1009650"/>
            <a:ext cx="16325088" cy="521894"/>
          </a:xfrm>
          <a:prstGeom prst="rect">
            <a:avLst/>
          </a:prstGeom>
        </p:spPr>
        <p:txBody>
          <a:bodyPr anchor="t" rtlCol="false" tIns="0" lIns="0" bIns="0" rIns="0">
            <a:spAutoFit/>
          </a:bodyPr>
          <a:lstStyle/>
          <a:p>
            <a:pPr algn="l">
              <a:lnSpc>
                <a:spcPts val="3359"/>
              </a:lnSpc>
            </a:pPr>
            <a:r>
              <a:rPr lang="en-US" b="true" sz="2400" spc="150">
                <a:solidFill>
                  <a:srgbClr val="16263A"/>
                </a:solidFill>
                <a:latin typeface="Arimo Bold"/>
                <a:ea typeface="Arimo Bold"/>
                <a:cs typeface="Arimo Bold"/>
                <a:sym typeface="Arimo Bold"/>
              </a:rPr>
              <a:t>WHY IT STANDS OUT</a:t>
            </a:r>
          </a:p>
        </p:txBody>
      </p:sp>
      <p:sp>
        <p:nvSpPr>
          <p:cNvPr name="TextBox 5" id="5"/>
          <p:cNvSpPr txBox="true"/>
          <p:nvPr/>
        </p:nvSpPr>
        <p:spPr>
          <a:xfrm rot="0">
            <a:off x="1219200" y="1693469"/>
            <a:ext cx="17068800" cy="832447"/>
          </a:xfrm>
          <a:prstGeom prst="rect">
            <a:avLst/>
          </a:prstGeom>
        </p:spPr>
        <p:txBody>
          <a:bodyPr anchor="t" rtlCol="false" tIns="0" lIns="0" bIns="0" rIns="0">
            <a:spAutoFit/>
          </a:bodyPr>
          <a:lstStyle/>
          <a:p>
            <a:pPr algn="l">
              <a:lnSpc>
                <a:spcPts val="6930"/>
              </a:lnSpc>
            </a:pPr>
            <a:r>
              <a:rPr lang="en-US" b="true" sz="6600" spc="-74">
                <a:solidFill>
                  <a:srgbClr val="16263A"/>
                </a:solidFill>
                <a:latin typeface="Inter Bold"/>
                <a:ea typeface="Inter Bold"/>
                <a:cs typeface="Inter Bold"/>
                <a:sym typeface="Inter Bold"/>
              </a:rPr>
              <a:t>Built for how Myanmar shops work today</a:t>
            </a:r>
          </a:p>
        </p:txBody>
      </p:sp>
      <p:grpSp>
        <p:nvGrpSpPr>
          <p:cNvPr name="Group 6" id="6"/>
          <p:cNvGrpSpPr/>
          <p:nvPr/>
        </p:nvGrpSpPr>
        <p:grpSpPr>
          <a:xfrm rot="0">
            <a:off x="1219200" y="3173616"/>
            <a:ext cx="5079997" cy="5894184"/>
            <a:chOff x="0" y="0"/>
            <a:chExt cx="6773329" cy="7858912"/>
          </a:xfrm>
        </p:grpSpPr>
        <p:sp>
          <p:nvSpPr>
            <p:cNvPr name="Freeform 7" id="7"/>
            <p:cNvSpPr/>
            <p:nvPr/>
          </p:nvSpPr>
          <p:spPr>
            <a:xfrm flipH="false" flipV="false" rot="0">
              <a:off x="0" y="0"/>
              <a:ext cx="6773291" cy="7858887"/>
            </a:xfrm>
            <a:custGeom>
              <a:avLst/>
              <a:gdLst/>
              <a:ahLst/>
              <a:cxnLst/>
              <a:rect r="r" b="b" t="t" l="l"/>
              <a:pathLst>
                <a:path h="7858887" w="6773291">
                  <a:moveTo>
                    <a:pt x="0" y="355600"/>
                  </a:moveTo>
                  <a:cubicBezTo>
                    <a:pt x="0" y="159258"/>
                    <a:pt x="159258" y="0"/>
                    <a:pt x="355600" y="0"/>
                  </a:cubicBezTo>
                  <a:lnTo>
                    <a:pt x="6417691" y="0"/>
                  </a:lnTo>
                  <a:cubicBezTo>
                    <a:pt x="6614033" y="0"/>
                    <a:pt x="6773291" y="159258"/>
                    <a:pt x="6773291" y="355600"/>
                  </a:cubicBezTo>
                  <a:lnTo>
                    <a:pt x="6773291" y="7503287"/>
                  </a:lnTo>
                  <a:cubicBezTo>
                    <a:pt x="6773291" y="7699629"/>
                    <a:pt x="6614033" y="7858887"/>
                    <a:pt x="6417691" y="7858887"/>
                  </a:cubicBezTo>
                  <a:lnTo>
                    <a:pt x="355600" y="7858887"/>
                  </a:lnTo>
                  <a:cubicBezTo>
                    <a:pt x="159258" y="7858887"/>
                    <a:pt x="0" y="7699629"/>
                    <a:pt x="0" y="7503287"/>
                  </a:cubicBezTo>
                  <a:close/>
                </a:path>
              </a:pathLst>
            </a:custGeom>
            <a:solidFill>
              <a:srgbClr val="16263A"/>
            </a:solidFill>
          </p:spPr>
        </p:sp>
      </p:grpSp>
      <p:grpSp>
        <p:nvGrpSpPr>
          <p:cNvPr name="Group 8" id="8"/>
          <p:cNvGrpSpPr/>
          <p:nvPr/>
        </p:nvGrpSpPr>
        <p:grpSpPr>
          <a:xfrm rot="0">
            <a:off x="1676400" y="3630816"/>
            <a:ext cx="685800" cy="685800"/>
            <a:chOff x="0" y="0"/>
            <a:chExt cx="914400" cy="914400"/>
          </a:xfrm>
        </p:grpSpPr>
        <p:sp>
          <p:nvSpPr>
            <p:cNvPr name="Freeform 9" id="9" descr="Users"/>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sp>
        <p:nvSpPr>
          <p:cNvPr name="TextBox 10" id="10"/>
          <p:cNvSpPr txBox="true"/>
          <p:nvPr/>
        </p:nvSpPr>
        <p:spPr>
          <a:xfrm rot="0">
            <a:off x="1676400" y="4602366"/>
            <a:ext cx="4290565" cy="1245794"/>
          </a:xfrm>
          <a:prstGeom prst="rect">
            <a:avLst/>
          </a:prstGeom>
        </p:spPr>
        <p:txBody>
          <a:bodyPr anchor="t" rtlCol="false" tIns="0" lIns="0" bIns="0" rIns="0">
            <a:spAutoFit/>
          </a:bodyPr>
          <a:lstStyle/>
          <a:p>
            <a:pPr algn="l">
              <a:lnSpc>
                <a:spcPts val="4830"/>
              </a:lnSpc>
            </a:pPr>
            <a:r>
              <a:rPr lang="en-US" sz="4200" b="true">
                <a:solidFill>
                  <a:srgbClr val="FFF5E4"/>
                </a:solidFill>
                <a:latin typeface="Inter Bold"/>
                <a:ea typeface="Inter Bold"/>
                <a:cs typeface="Inter Bold"/>
                <a:sym typeface="Inter Bold"/>
              </a:rPr>
              <a:t>No new app for buyers</a:t>
            </a:r>
          </a:p>
        </p:txBody>
      </p:sp>
      <p:sp>
        <p:nvSpPr>
          <p:cNvPr name="TextBox 11" id="11"/>
          <p:cNvSpPr txBox="true"/>
          <p:nvPr/>
        </p:nvSpPr>
        <p:spPr>
          <a:xfrm rot="0">
            <a:off x="1676400" y="6029125"/>
            <a:ext cx="4290565" cy="960044"/>
          </a:xfrm>
          <a:prstGeom prst="rect">
            <a:avLst/>
          </a:prstGeom>
        </p:spPr>
        <p:txBody>
          <a:bodyPr anchor="t" rtlCol="false" tIns="0" lIns="0" bIns="0" rIns="0">
            <a:spAutoFit/>
          </a:bodyPr>
          <a:lstStyle/>
          <a:p>
            <a:pPr algn="l">
              <a:lnSpc>
                <a:spcPts val="3442"/>
              </a:lnSpc>
            </a:pPr>
            <a:r>
              <a:rPr lang="en-US" sz="2550">
                <a:solidFill>
                  <a:srgbClr val="D5DCE3"/>
                </a:solidFill>
                <a:latin typeface="Arimo"/>
                <a:ea typeface="Arimo"/>
                <a:cs typeface="Arimo"/>
                <a:sym typeface="Arimo"/>
              </a:rPr>
              <a:t>A private link in the chat they already use</a:t>
            </a:r>
          </a:p>
        </p:txBody>
      </p:sp>
      <p:grpSp>
        <p:nvGrpSpPr>
          <p:cNvPr name="Group 12" id="12"/>
          <p:cNvGrpSpPr/>
          <p:nvPr/>
        </p:nvGrpSpPr>
        <p:grpSpPr>
          <a:xfrm rot="0">
            <a:off x="6603997" y="3173616"/>
            <a:ext cx="5079997" cy="5894184"/>
            <a:chOff x="0" y="0"/>
            <a:chExt cx="6773329" cy="7858912"/>
          </a:xfrm>
        </p:grpSpPr>
        <p:sp>
          <p:nvSpPr>
            <p:cNvPr name="Freeform 13" id="13"/>
            <p:cNvSpPr/>
            <p:nvPr/>
          </p:nvSpPr>
          <p:spPr>
            <a:xfrm flipH="false" flipV="false" rot="0">
              <a:off x="0" y="0"/>
              <a:ext cx="6773291" cy="7858887"/>
            </a:xfrm>
            <a:custGeom>
              <a:avLst/>
              <a:gdLst/>
              <a:ahLst/>
              <a:cxnLst/>
              <a:rect r="r" b="b" t="t" l="l"/>
              <a:pathLst>
                <a:path h="7858887" w="6773291">
                  <a:moveTo>
                    <a:pt x="0" y="355600"/>
                  </a:moveTo>
                  <a:cubicBezTo>
                    <a:pt x="0" y="159258"/>
                    <a:pt x="159258" y="0"/>
                    <a:pt x="355600" y="0"/>
                  </a:cubicBezTo>
                  <a:lnTo>
                    <a:pt x="6417691" y="0"/>
                  </a:lnTo>
                  <a:cubicBezTo>
                    <a:pt x="6614033" y="0"/>
                    <a:pt x="6773291" y="159258"/>
                    <a:pt x="6773291" y="355600"/>
                  </a:cubicBezTo>
                  <a:lnTo>
                    <a:pt x="6773291" y="7503287"/>
                  </a:lnTo>
                  <a:cubicBezTo>
                    <a:pt x="6773291" y="7699629"/>
                    <a:pt x="6614033" y="7858887"/>
                    <a:pt x="6417691" y="7858887"/>
                  </a:cubicBezTo>
                  <a:lnTo>
                    <a:pt x="355600" y="7858887"/>
                  </a:lnTo>
                  <a:cubicBezTo>
                    <a:pt x="159258" y="7858887"/>
                    <a:pt x="0" y="7699629"/>
                    <a:pt x="0" y="7503287"/>
                  </a:cubicBezTo>
                  <a:close/>
                </a:path>
              </a:pathLst>
            </a:custGeom>
            <a:solidFill>
              <a:srgbClr val="16263A"/>
            </a:solidFill>
          </p:spPr>
        </p:sp>
      </p:grpSp>
      <p:grpSp>
        <p:nvGrpSpPr>
          <p:cNvPr name="Group 14" id="14"/>
          <p:cNvGrpSpPr/>
          <p:nvPr/>
        </p:nvGrpSpPr>
        <p:grpSpPr>
          <a:xfrm rot="0">
            <a:off x="7061197" y="3630816"/>
            <a:ext cx="685800" cy="685800"/>
            <a:chOff x="0" y="0"/>
            <a:chExt cx="914400" cy="914400"/>
          </a:xfrm>
        </p:grpSpPr>
        <p:sp>
          <p:nvSpPr>
            <p:cNvPr name="Freeform 15" id="15" descr="Home"/>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sp>
        <p:nvSpPr>
          <p:cNvPr name="TextBox 16" id="16"/>
          <p:cNvSpPr txBox="true"/>
          <p:nvPr/>
        </p:nvSpPr>
        <p:spPr>
          <a:xfrm rot="0">
            <a:off x="7061197" y="4602366"/>
            <a:ext cx="4290565" cy="1245794"/>
          </a:xfrm>
          <a:prstGeom prst="rect">
            <a:avLst/>
          </a:prstGeom>
        </p:spPr>
        <p:txBody>
          <a:bodyPr anchor="t" rtlCol="false" tIns="0" lIns="0" bIns="0" rIns="0">
            <a:spAutoFit/>
          </a:bodyPr>
          <a:lstStyle/>
          <a:p>
            <a:pPr algn="l">
              <a:lnSpc>
                <a:spcPts val="4830"/>
              </a:lnSpc>
            </a:pPr>
            <a:r>
              <a:rPr lang="en-US" sz="4200" b="true">
                <a:solidFill>
                  <a:srgbClr val="FFF5E4"/>
                </a:solidFill>
                <a:latin typeface="Inter Bold"/>
                <a:ea typeface="Inter Bold"/>
                <a:cs typeface="Inter Bold"/>
                <a:sym typeface="Inter Bold"/>
              </a:rPr>
              <a:t>No perfect addresses</a:t>
            </a:r>
          </a:p>
        </p:txBody>
      </p:sp>
      <p:sp>
        <p:nvSpPr>
          <p:cNvPr name="TextBox 17" id="17"/>
          <p:cNvSpPr txBox="true"/>
          <p:nvPr/>
        </p:nvSpPr>
        <p:spPr>
          <a:xfrm rot="0">
            <a:off x="7061197" y="6029125"/>
            <a:ext cx="4290565" cy="960044"/>
          </a:xfrm>
          <a:prstGeom prst="rect">
            <a:avLst/>
          </a:prstGeom>
        </p:spPr>
        <p:txBody>
          <a:bodyPr anchor="t" rtlCol="false" tIns="0" lIns="0" bIns="0" rIns="0">
            <a:spAutoFit/>
          </a:bodyPr>
          <a:lstStyle/>
          <a:p>
            <a:pPr algn="l">
              <a:lnSpc>
                <a:spcPts val="3442"/>
              </a:lnSpc>
            </a:pPr>
            <a:r>
              <a:rPr lang="en-US" sz="2550">
                <a:solidFill>
                  <a:srgbClr val="D5DCE3"/>
                </a:solidFill>
                <a:latin typeface="Arimo"/>
                <a:ea typeface="Arimo"/>
                <a:cs typeface="Arimo"/>
                <a:sym typeface="Arimo"/>
              </a:rPr>
              <a:t>A pin and a landmark are enough</a:t>
            </a:r>
          </a:p>
        </p:txBody>
      </p:sp>
      <p:grpSp>
        <p:nvGrpSpPr>
          <p:cNvPr name="Group 18" id="18"/>
          <p:cNvGrpSpPr/>
          <p:nvPr/>
        </p:nvGrpSpPr>
        <p:grpSpPr>
          <a:xfrm rot="0">
            <a:off x="11988803" y="3173616"/>
            <a:ext cx="5079997" cy="5894184"/>
            <a:chOff x="0" y="0"/>
            <a:chExt cx="6773329" cy="7858912"/>
          </a:xfrm>
        </p:grpSpPr>
        <p:sp>
          <p:nvSpPr>
            <p:cNvPr name="Freeform 19" id="19"/>
            <p:cNvSpPr/>
            <p:nvPr/>
          </p:nvSpPr>
          <p:spPr>
            <a:xfrm flipH="false" flipV="false" rot="0">
              <a:off x="0" y="0"/>
              <a:ext cx="6773291" cy="7858887"/>
            </a:xfrm>
            <a:custGeom>
              <a:avLst/>
              <a:gdLst/>
              <a:ahLst/>
              <a:cxnLst/>
              <a:rect r="r" b="b" t="t" l="l"/>
              <a:pathLst>
                <a:path h="7858887" w="6773291">
                  <a:moveTo>
                    <a:pt x="0" y="355600"/>
                  </a:moveTo>
                  <a:cubicBezTo>
                    <a:pt x="0" y="159258"/>
                    <a:pt x="159258" y="0"/>
                    <a:pt x="355600" y="0"/>
                  </a:cubicBezTo>
                  <a:lnTo>
                    <a:pt x="6417691" y="0"/>
                  </a:lnTo>
                  <a:cubicBezTo>
                    <a:pt x="6614033" y="0"/>
                    <a:pt x="6773291" y="159258"/>
                    <a:pt x="6773291" y="355600"/>
                  </a:cubicBezTo>
                  <a:lnTo>
                    <a:pt x="6773291" y="7503287"/>
                  </a:lnTo>
                  <a:cubicBezTo>
                    <a:pt x="6773291" y="7699629"/>
                    <a:pt x="6614033" y="7858887"/>
                    <a:pt x="6417691" y="7858887"/>
                  </a:cubicBezTo>
                  <a:lnTo>
                    <a:pt x="355600" y="7858887"/>
                  </a:lnTo>
                  <a:cubicBezTo>
                    <a:pt x="159258" y="7858887"/>
                    <a:pt x="0" y="7699629"/>
                    <a:pt x="0" y="7503287"/>
                  </a:cubicBezTo>
                  <a:close/>
                </a:path>
              </a:pathLst>
            </a:custGeom>
            <a:solidFill>
              <a:srgbClr val="16263A"/>
            </a:solidFill>
          </p:spPr>
        </p:sp>
      </p:grpSp>
      <p:grpSp>
        <p:nvGrpSpPr>
          <p:cNvPr name="Group 20" id="20"/>
          <p:cNvGrpSpPr/>
          <p:nvPr/>
        </p:nvGrpSpPr>
        <p:grpSpPr>
          <a:xfrm rot="0">
            <a:off x="12446003" y="3630816"/>
            <a:ext cx="685800" cy="685800"/>
            <a:chOff x="0" y="0"/>
            <a:chExt cx="914400" cy="914400"/>
          </a:xfrm>
        </p:grpSpPr>
        <p:sp>
          <p:nvSpPr>
            <p:cNvPr name="Freeform 21" id="21" descr="Verified"/>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6"/>
              <a:stretch>
                <a:fillRect l="0" t="0" r="0" b="0"/>
              </a:stretch>
            </a:blipFill>
          </p:spPr>
        </p:sp>
      </p:grpSp>
      <p:sp>
        <p:nvSpPr>
          <p:cNvPr name="TextBox 22" id="22"/>
          <p:cNvSpPr txBox="true"/>
          <p:nvPr/>
        </p:nvSpPr>
        <p:spPr>
          <a:xfrm rot="0">
            <a:off x="12446003" y="4602366"/>
            <a:ext cx="4290565" cy="1245794"/>
          </a:xfrm>
          <a:prstGeom prst="rect">
            <a:avLst/>
          </a:prstGeom>
        </p:spPr>
        <p:txBody>
          <a:bodyPr anchor="t" rtlCol="false" tIns="0" lIns="0" bIns="0" rIns="0">
            <a:spAutoFit/>
          </a:bodyPr>
          <a:lstStyle/>
          <a:p>
            <a:pPr algn="l">
              <a:lnSpc>
                <a:spcPts val="4830"/>
              </a:lnSpc>
            </a:pPr>
            <a:r>
              <a:rPr lang="en-US" sz="4200" b="true">
                <a:solidFill>
                  <a:srgbClr val="FFF5E4"/>
                </a:solidFill>
                <a:latin typeface="Inter Bold"/>
                <a:ea typeface="Inter Bold"/>
                <a:cs typeface="Inter Bold"/>
                <a:sym typeface="Inter Bold"/>
              </a:rPr>
              <a:t>No black-box guessing</a:t>
            </a:r>
          </a:p>
        </p:txBody>
      </p:sp>
      <p:sp>
        <p:nvSpPr>
          <p:cNvPr name="TextBox 23" id="23"/>
          <p:cNvSpPr txBox="true"/>
          <p:nvPr/>
        </p:nvSpPr>
        <p:spPr>
          <a:xfrm rot="0">
            <a:off x="12446003" y="6029125"/>
            <a:ext cx="4290565" cy="1397203"/>
          </a:xfrm>
          <a:prstGeom prst="rect">
            <a:avLst/>
          </a:prstGeom>
        </p:spPr>
        <p:txBody>
          <a:bodyPr anchor="t" rtlCol="false" tIns="0" lIns="0" bIns="0" rIns="0">
            <a:spAutoFit/>
          </a:bodyPr>
          <a:lstStyle/>
          <a:p>
            <a:pPr algn="l">
              <a:lnSpc>
                <a:spcPts val="3442"/>
              </a:lnSpc>
            </a:pPr>
            <a:r>
              <a:rPr lang="en-US" sz="2550">
                <a:solidFill>
                  <a:srgbClr val="D5DCE3"/>
                </a:solidFill>
                <a:latin typeface="Arimo"/>
                <a:ea typeface="Arimo"/>
                <a:cs typeface="Arimo"/>
                <a:sym typeface="Arimo"/>
              </a:rPr>
              <a:t>Local-language rules, with a person checking each key step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E4"/>
        </a:solidFill>
      </p:bgPr>
    </p:bg>
    <p:spTree>
      <p:nvGrpSpPr>
        <p:cNvPr id="1" name=""/>
        <p:cNvGrpSpPr/>
        <p:nvPr/>
      </p:nvGrpSpPr>
      <p:grpSpPr>
        <a:xfrm>
          <a:off x="0" y="0"/>
          <a:ext cx="0" cy="0"/>
          <a:chOff x="0" y="0"/>
          <a:chExt cx="0" cy="0"/>
        </a:xfrm>
      </p:grpSpPr>
      <p:grpSp>
        <p:nvGrpSpPr>
          <p:cNvPr name="Group 2" id="2"/>
          <p:cNvGrpSpPr/>
          <p:nvPr/>
        </p:nvGrpSpPr>
        <p:grpSpPr>
          <a:xfrm rot="0">
            <a:off x="14211300" y="533400"/>
            <a:ext cx="2857500" cy="923925"/>
            <a:chOff x="0" y="0"/>
            <a:chExt cx="3810000" cy="1231900"/>
          </a:xfrm>
        </p:grpSpPr>
        <p:sp>
          <p:nvSpPr>
            <p:cNvPr name="Freeform 3" id="3" descr="LannPya logo"/>
            <p:cNvSpPr/>
            <p:nvPr/>
          </p:nvSpPr>
          <p:spPr>
            <a:xfrm flipH="false" flipV="false" rot="0">
              <a:off x="0" y="0"/>
              <a:ext cx="3810000" cy="1231900"/>
            </a:xfrm>
            <a:custGeom>
              <a:avLst/>
              <a:gdLst/>
              <a:ahLst/>
              <a:cxnLst/>
              <a:rect r="r" b="b" t="t" l="l"/>
              <a:pathLst>
                <a:path h="1231900" w="3810000">
                  <a:moveTo>
                    <a:pt x="0" y="0"/>
                  </a:moveTo>
                  <a:lnTo>
                    <a:pt x="3810000" y="0"/>
                  </a:lnTo>
                  <a:lnTo>
                    <a:pt x="3810000" y="1231900"/>
                  </a:lnTo>
                  <a:lnTo>
                    <a:pt x="0" y="1231900"/>
                  </a:lnTo>
                  <a:lnTo>
                    <a:pt x="0" y="0"/>
                  </a:lnTo>
                  <a:close/>
                </a:path>
              </a:pathLst>
            </a:custGeom>
            <a:blipFill>
              <a:blip r:embed="rId3"/>
              <a:stretch>
                <a:fillRect l="18" t="0" r="18" b="0"/>
              </a:stretch>
            </a:blipFill>
          </p:spPr>
        </p:sp>
      </p:grpSp>
      <p:sp>
        <p:nvSpPr>
          <p:cNvPr name="TextBox 4" id="4"/>
          <p:cNvSpPr txBox="true"/>
          <p:nvPr/>
        </p:nvSpPr>
        <p:spPr>
          <a:xfrm rot="0">
            <a:off x="1219200" y="1009650"/>
            <a:ext cx="16325088" cy="521894"/>
          </a:xfrm>
          <a:prstGeom prst="rect">
            <a:avLst/>
          </a:prstGeom>
        </p:spPr>
        <p:txBody>
          <a:bodyPr anchor="t" rtlCol="false" tIns="0" lIns="0" bIns="0" rIns="0">
            <a:spAutoFit/>
          </a:bodyPr>
          <a:lstStyle/>
          <a:p>
            <a:pPr algn="l">
              <a:lnSpc>
                <a:spcPts val="3359"/>
              </a:lnSpc>
            </a:pPr>
            <a:r>
              <a:rPr lang="en-US" b="true" sz="2400" spc="150">
                <a:solidFill>
                  <a:srgbClr val="A86500"/>
                </a:solidFill>
                <a:latin typeface="Arimo Bold"/>
                <a:ea typeface="Arimo Bold"/>
                <a:cs typeface="Arimo Bold"/>
                <a:sym typeface="Arimo Bold"/>
              </a:rPr>
              <a:t>BUSINESS MODEL</a:t>
            </a:r>
          </a:p>
        </p:txBody>
      </p:sp>
      <p:sp>
        <p:nvSpPr>
          <p:cNvPr name="TextBox 5" id="5"/>
          <p:cNvSpPr txBox="true"/>
          <p:nvPr/>
        </p:nvSpPr>
        <p:spPr>
          <a:xfrm rot="0">
            <a:off x="1219200" y="1693469"/>
            <a:ext cx="16325088" cy="832447"/>
          </a:xfrm>
          <a:prstGeom prst="rect">
            <a:avLst/>
          </a:prstGeom>
        </p:spPr>
        <p:txBody>
          <a:bodyPr anchor="t" rtlCol="false" tIns="0" lIns="0" bIns="0" rIns="0">
            <a:spAutoFit/>
          </a:bodyPr>
          <a:lstStyle/>
          <a:p>
            <a:pPr algn="l">
              <a:lnSpc>
                <a:spcPts val="6930"/>
              </a:lnSpc>
            </a:pPr>
            <a:r>
              <a:rPr lang="en-US" b="true" sz="6600" spc="-74">
                <a:solidFill>
                  <a:srgbClr val="16263A"/>
                </a:solidFill>
                <a:latin typeface="Inter Bold"/>
                <a:ea typeface="Inter Bold"/>
                <a:cs typeface="Inter Bold"/>
                <a:sym typeface="Inter Bold"/>
              </a:rPr>
              <a:t>Software for shops and hubs</a:t>
            </a:r>
          </a:p>
        </p:txBody>
      </p:sp>
      <p:grpSp>
        <p:nvGrpSpPr>
          <p:cNvPr name="Group 6" id="6"/>
          <p:cNvGrpSpPr/>
          <p:nvPr/>
        </p:nvGrpSpPr>
        <p:grpSpPr>
          <a:xfrm rot="0">
            <a:off x="1219200" y="3021216"/>
            <a:ext cx="7772400" cy="2476500"/>
            <a:chOff x="0" y="0"/>
            <a:chExt cx="10363200" cy="3302000"/>
          </a:xfrm>
        </p:grpSpPr>
        <p:sp>
          <p:nvSpPr>
            <p:cNvPr name="Freeform 7" id="7"/>
            <p:cNvSpPr/>
            <p:nvPr/>
          </p:nvSpPr>
          <p:spPr>
            <a:xfrm flipH="false" flipV="false" rot="0">
              <a:off x="0" y="0"/>
              <a:ext cx="10363200" cy="3302000"/>
            </a:xfrm>
            <a:custGeom>
              <a:avLst/>
              <a:gdLst/>
              <a:ahLst/>
              <a:cxnLst/>
              <a:rect r="r" b="b" t="t" l="l"/>
              <a:pathLst>
                <a:path h="3302000" w="10363200">
                  <a:moveTo>
                    <a:pt x="0" y="345567"/>
                  </a:moveTo>
                  <a:cubicBezTo>
                    <a:pt x="0" y="154686"/>
                    <a:pt x="154686" y="0"/>
                    <a:pt x="345567" y="0"/>
                  </a:cubicBezTo>
                  <a:lnTo>
                    <a:pt x="10017633" y="0"/>
                  </a:lnTo>
                  <a:cubicBezTo>
                    <a:pt x="10208514" y="0"/>
                    <a:pt x="10363200" y="154686"/>
                    <a:pt x="10363200" y="345567"/>
                  </a:cubicBezTo>
                  <a:lnTo>
                    <a:pt x="10363200" y="2956433"/>
                  </a:lnTo>
                  <a:cubicBezTo>
                    <a:pt x="10363200" y="3147314"/>
                    <a:pt x="10208514" y="3302000"/>
                    <a:pt x="10017633" y="3302000"/>
                  </a:cubicBezTo>
                  <a:lnTo>
                    <a:pt x="345567" y="3302000"/>
                  </a:lnTo>
                  <a:cubicBezTo>
                    <a:pt x="154686" y="3302000"/>
                    <a:pt x="0" y="3147314"/>
                    <a:pt x="0" y="2956433"/>
                  </a:cubicBezTo>
                  <a:close/>
                </a:path>
              </a:pathLst>
            </a:custGeom>
            <a:solidFill>
              <a:srgbClr val="FFFBF3"/>
            </a:solidFill>
            <a:ln w="19050" cap="sq">
              <a:solidFill>
                <a:srgbClr val="E6D7BC"/>
              </a:solidFill>
              <a:prstDash val="solid"/>
              <a:miter/>
            </a:ln>
          </p:spPr>
        </p:sp>
      </p:grpSp>
      <p:sp>
        <p:nvSpPr>
          <p:cNvPr name="TextBox 8" id="8"/>
          <p:cNvSpPr txBox="true"/>
          <p:nvPr/>
        </p:nvSpPr>
        <p:spPr>
          <a:xfrm rot="0">
            <a:off x="1695450" y="3716541"/>
            <a:ext cx="1156449" cy="1343025"/>
          </a:xfrm>
          <a:prstGeom prst="rect">
            <a:avLst/>
          </a:prstGeom>
        </p:spPr>
        <p:txBody>
          <a:bodyPr anchor="t" rtlCol="false" tIns="0" lIns="0" bIns="0" rIns="0">
            <a:spAutoFit/>
          </a:bodyPr>
          <a:lstStyle/>
          <a:p>
            <a:pPr algn="l">
              <a:lnSpc>
                <a:spcPts val="12000"/>
              </a:lnSpc>
            </a:pPr>
            <a:r>
              <a:rPr lang="en-US" sz="12000" b="true">
                <a:solidFill>
                  <a:srgbClr val="16263A"/>
                </a:solidFill>
                <a:latin typeface="Inter Bold"/>
                <a:ea typeface="Inter Bold"/>
                <a:cs typeface="Inter Bold"/>
                <a:sym typeface="Inter Bold"/>
              </a:rPr>
              <a:t>0</a:t>
            </a:r>
          </a:p>
        </p:txBody>
      </p:sp>
      <p:sp>
        <p:nvSpPr>
          <p:cNvPr name="TextBox 9" id="9"/>
          <p:cNvSpPr txBox="true"/>
          <p:nvPr/>
        </p:nvSpPr>
        <p:spPr>
          <a:xfrm rot="0">
            <a:off x="3002061" y="3516516"/>
            <a:ext cx="5678691" cy="596208"/>
          </a:xfrm>
          <a:prstGeom prst="rect">
            <a:avLst/>
          </a:prstGeom>
        </p:spPr>
        <p:txBody>
          <a:bodyPr anchor="t" rtlCol="false" tIns="0" lIns="0" bIns="0" rIns="0">
            <a:spAutoFit/>
          </a:bodyPr>
          <a:lstStyle/>
          <a:p>
            <a:pPr algn="l">
              <a:lnSpc>
                <a:spcPts val="4320"/>
              </a:lnSpc>
            </a:pPr>
            <a:r>
              <a:rPr lang="en-US" sz="3600" b="true">
                <a:solidFill>
                  <a:srgbClr val="16263A"/>
                </a:solidFill>
                <a:latin typeface="Inter Bold"/>
                <a:ea typeface="Inter Bold"/>
                <a:cs typeface="Inter Bold"/>
                <a:sym typeface="Inter Bold"/>
              </a:rPr>
              <a:t>Bikes or riders to buy</a:t>
            </a:r>
          </a:p>
        </p:txBody>
      </p:sp>
      <p:sp>
        <p:nvSpPr>
          <p:cNvPr name="TextBox 10" id="10"/>
          <p:cNvSpPr txBox="true"/>
          <p:nvPr/>
        </p:nvSpPr>
        <p:spPr>
          <a:xfrm rot="0">
            <a:off x="3002061" y="4112714"/>
            <a:ext cx="5678691" cy="918172"/>
          </a:xfrm>
          <a:prstGeom prst="rect">
            <a:avLst/>
          </a:prstGeom>
        </p:spPr>
        <p:txBody>
          <a:bodyPr anchor="t" rtlCol="false" tIns="0" lIns="0" bIns="0" rIns="0">
            <a:spAutoFit/>
          </a:bodyPr>
          <a:lstStyle/>
          <a:p>
            <a:pPr algn="l">
              <a:lnSpc>
                <a:spcPts val="3315"/>
              </a:lnSpc>
            </a:pPr>
            <a:r>
              <a:rPr lang="en-US" sz="2550">
                <a:solidFill>
                  <a:srgbClr val="3D4B5C"/>
                </a:solidFill>
                <a:latin typeface="Arimo"/>
                <a:ea typeface="Arimo"/>
                <a:cs typeface="Arimo"/>
                <a:sym typeface="Arimo"/>
              </a:rPr>
              <a:t>Runs on the shop’s and hub’s own team</a:t>
            </a:r>
          </a:p>
        </p:txBody>
      </p:sp>
      <p:grpSp>
        <p:nvGrpSpPr>
          <p:cNvPr name="Group 11" id="11"/>
          <p:cNvGrpSpPr/>
          <p:nvPr/>
        </p:nvGrpSpPr>
        <p:grpSpPr>
          <a:xfrm rot="0">
            <a:off x="9296400" y="3021216"/>
            <a:ext cx="7772400" cy="2476500"/>
            <a:chOff x="0" y="0"/>
            <a:chExt cx="10363200" cy="3302000"/>
          </a:xfrm>
        </p:grpSpPr>
        <p:sp>
          <p:nvSpPr>
            <p:cNvPr name="Freeform 12" id="12"/>
            <p:cNvSpPr/>
            <p:nvPr/>
          </p:nvSpPr>
          <p:spPr>
            <a:xfrm flipH="false" flipV="false" rot="0">
              <a:off x="0" y="0"/>
              <a:ext cx="10363200" cy="3302000"/>
            </a:xfrm>
            <a:custGeom>
              <a:avLst/>
              <a:gdLst/>
              <a:ahLst/>
              <a:cxnLst/>
              <a:rect r="r" b="b" t="t" l="l"/>
              <a:pathLst>
                <a:path h="3302000" w="10363200">
                  <a:moveTo>
                    <a:pt x="0" y="345567"/>
                  </a:moveTo>
                  <a:cubicBezTo>
                    <a:pt x="0" y="154686"/>
                    <a:pt x="154686" y="0"/>
                    <a:pt x="345567" y="0"/>
                  </a:cubicBezTo>
                  <a:lnTo>
                    <a:pt x="10017633" y="0"/>
                  </a:lnTo>
                  <a:cubicBezTo>
                    <a:pt x="10208514" y="0"/>
                    <a:pt x="10363200" y="154686"/>
                    <a:pt x="10363200" y="345567"/>
                  </a:cubicBezTo>
                  <a:lnTo>
                    <a:pt x="10363200" y="2956433"/>
                  </a:lnTo>
                  <a:cubicBezTo>
                    <a:pt x="10363200" y="3147314"/>
                    <a:pt x="10208514" y="3302000"/>
                    <a:pt x="10017633" y="3302000"/>
                  </a:cubicBezTo>
                  <a:lnTo>
                    <a:pt x="345567" y="3302000"/>
                  </a:lnTo>
                  <a:cubicBezTo>
                    <a:pt x="154686" y="3302000"/>
                    <a:pt x="0" y="3147314"/>
                    <a:pt x="0" y="2956433"/>
                  </a:cubicBezTo>
                  <a:close/>
                </a:path>
              </a:pathLst>
            </a:custGeom>
            <a:solidFill>
              <a:srgbClr val="FFFBF3"/>
            </a:solidFill>
            <a:ln w="19050" cap="sq">
              <a:solidFill>
                <a:srgbClr val="E6D7BC"/>
              </a:solidFill>
              <a:prstDash val="solid"/>
              <a:miter/>
            </a:ln>
          </p:spPr>
        </p:sp>
      </p:grpSp>
      <p:grpSp>
        <p:nvGrpSpPr>
          <p:cNvPr name="Group 13" id="13"/>
          <p:cNvGrpSpPr/>
          <p:nvPr/>
        </p:nvGrpSpPr>
        <p:grpSpPr>
          <a:xfrm rot="0">
            <a:off x="9772650" y="3573666"/>
            <a:ext cx="1371600" cy="1371600"/>
            <a:chOff x="0" y="0"/>
            <a:chExt cx="1828800" cy="1828800"/>
          </a:xfrm>
        </p:grpSpPr>
        <p:sp>
          <p:nvSpPr>
            <p:cNvPr name="Freeform 14" id="14" descr="Chart"/>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4"/>
              <a:stretch>
                <a:fillRect l="0" t="0" r="0" b="0"/>
              </a:stretch>
            </a:blipFill>
          </p:spPr>
        </p:sp>
      </p:grpSp>
      <p:sp>
        <p:nvSpPr>
          <p:cNvPr name="TextBox 15" id="15"/>
          <p:cNvSpPr txBox="true"/>
          <p:nvPr/>
        </p:nvSpPr>
        <p:spPr>
          <a:xfrm rot="0">
            <a:off x="11487150" y="3727056"/>
            <a:ext cx="5385197" cy="596208"/>
          </a:xfrm>
          <a:prstGeom prst="rect">
            <a:avLst/>
          </a:prstGeom>
        </p:spPr>
        <p:txBody>
          <a:bodyPr anchor="t" rtlCol="false" tIns="0" lIns="0" bIns="0" rIns="0">
            <a:spAutoFit/>
          </a:bodyPr>
          <a:lstStyle/>
          <a:p>
            <a:pPr algn="l">
              <a:lnSpc>
                <a:spcPts val="4320"/>
              </a:lnSpc>
            </a:pPr>
            <a:r>
              <a:rPr lang="en-US" sz="3600" b="true">
                <a:solidFill>
                  <a:srgbClr val="16263A"/>
                </a:solidFill>
                <a:latin typeface="Inter Bold"/>
                <a:ea typeface="Inter Bold"/>
                <a:cs typeface="Inter Bold"/>
                <a:sym typeface="Inter Bold"/>
              </a:rPr>
              <a:t>Monthly subscription</a:t>
            </a:r>
          </a:p>
        </p:txBody>
      </p:sp>
      <p:sp>
        <p:nvSpPr>
          <p:cNvPr name="TextBox 16" id="16"/>
          <p:cNvSpPr txBox="true"/>
          <p:nvPr/>
        </p:nvSpPr>
        <p:spPr>
          <a:xfrm rot="0">
            <a:off x="11487150" y="4323264"/>
            <a:ext cx="4622292" cy="497186"/>
          </a:xfrm>
          <a:prstGeom prst="rect">
            <a:avLst/>
          </a:prstGeom>
        </p:spPr>
        <p:txBody>
          <a:bodyPr anchor="t" rtlCol="false" tIns="0" lIns="0" bIns="0" rIns="0">
            <a:spAutoFit/>
          </a:bodyPr>
          <a:lstStyle/>
          <a:p>
            <a:pPr algn="l">
              <a:lnSpc>
                <a:spcPts val="3315"/>
              </a:lnSpc>
            </a:pPr>
            <a:r>
              <a:rPr lang="en-US" sz="2550">
                <a:solidFill>
                  <a:srgbClr val="3D4B5C"/>
                </a:solidFill>
                <a:latin typeface="Arimo"/>
                <a:ea typeface="Arimo"/>
                <a:cs typeface="Arimo"/>
                <a:sym typeface="Arimo"/>
              </a:rPr>
              <a:t>Priced by order volume</a:t>
            </a:r>
          </a:p>
        </p:txBody>
      </p:sp>
      <p:grpSp>
        <p:nvGrpSpPr>
          <p:cNvPr name="Group 17" id="17"/>
          <p:cNvGrpSpPr/>
          <p:nvPr/>
        </p:nvGrpSpPr>
        <p:grpSpPr>
          <a:xfrm rot="0">
            <a:off x="1219200" y="6031116"/>
            <a:ext cx="15849600" cy="2228850"/>
            <a:chOff x="0" y="0"/>
            <a:chExt cx="21132800" cy="2971800"/>
          </a:xfrm>
        </p:grpSpPr>
        <p:sp>
          <p:nvSpPr>
            <p:cNvPr name="Freeform 18" id="18"/>
            <p:cNvSpPr/>
            <p:nvPr/>
          </p:nvSpPr>
          <p:spPr>
            <a:xfrm flipH="false" flipV="false" rot="0">
              <a:off x="0" y="0"/>
              <a:ext cx="21132800" cy="2971800"/>
            </a:xfrm>
            <a:custGeom>
              <a:avLst/>
              <a:gdLst/>
              <a:ahLst/>
              <a:cxnLst/>
              <a:rect r="r" b="b" t="t" l="l"/>
              <a:pathLst>
                <a:path h="2971800" w="21132800">
                  <a:moveTo>
                    <a:pt x="0" y="355600"/>
                  </a:moveTo>
                  <a:cubicBezTo>
                    <a:pt x="0" y="159258"/>
                    <a:pt x="159258" y="0"/>
                    <a:pt x="355600" y="0"/>
                  </a:cubicBezTo>
                  <a:lnTo>
                    <a:pt x="20777200" y="0"/>
                  </a:lnTo>
                  <a:cubicBezTo>
                    <a:pt x="20973542" y="0"/>
                    <a:pt x="21132800" y="159258"/>
                    <a:pt x="21132800" y="355600"/>
                  </a:cubicBezTo>
                  <a:lnTo>
                    <a:pt x="21132800" y="2616200"/>
                  </a:lnTo>
                  <a:cubicBezTo>
                    <a:pt x="21132800" y="2812542"/>
                    <a:pt x="20973542" y="2971800"/>
                    <a:pt x="20777200" y="2971800"/>
                  </a:cubicBezTo>
                  <a:lnTo>
                    <a:pt x="355600" y="2971800"/>
                  </a:lnTo>
                  <a:cubicBezTo>
                    <a:pt x="159258" y="2971800"/>
                    <a:pt x="0" y="2812542"/>
                    <a:pt x="0" y="2616200"/>
                  </a:cubicBezTo>
                  <a:close/>
                </a:path>
              </a:pathLst>
            </a:custGeom>
            <a:solidFill>
              <a:srgbClr val="16263A"/>
            </a:solidFill>
          </p:spPr>
        </p:sp>
      </p:grpSp>
      <p:sp>
        <p:nvSpPr>
          <p:cNvPr name="TextBox 19" id="19"/>
          <p:cNvSpPr txBox="true"/>
          <p:nvPr/>
        </p:nvSpPr>
        <p:spPr>
          <a:xfrm rot="0">
            <a:off x="1676400" y="6354966"/>
            <a:ext cx="7210901" cy="495300"/>
          </a:xfrm>
          <a:prstGeom prst="rect">
            <a:avLst/>
          </a:prstGeom>
        </p:spPr>
        <p:txBody>
          <a:bodyPr anchor="t" rtlCol="false" tIns="0" lIns="0" bIns="0" rIns="0">
            <a:spAutoFit/>
          </a:bodyPr>
          <a:lstStyle/>
          <a:p>
            <a:pPr algn="l">
              <a:lnSpc>
                <a:spcPts val="3149"/>
              </a:lnSpc>
            </a:pPr>
            <a:r>
              <a:rPr lang="en-US" b="true" sz="2250" spc="150">
                <a:solidFill>
                  <a:srgbClr val="B9C2CC"/>
                </a:solidFill>
                <a:latin typeface="Arimo Bold"/>
                <a:ea typeface="Arimo Bold"/>
                <a:cs typeface="Arimo Bold"/>
                <a:sym typeface="Arimo Bold"/>
              </a:rPr>
              <a:t>TODAY</a:t>
            </a:r>
          </a:p>
        </p:txBody>
      </p:sp>
      <p:sp>
        <p:nvSpPr>
          <p:cNvPr name="TextBox 20" id="20"/>
          <p:cNvSpPr txBox="true"/>
          <p:nvPr/>
        </p:nvSpPr>
        <p:spPr>
          <a:xfrm rot="0">
            <a:off x="1676400" y="6840741"/>
            <a:ext cx="7210901" cy="1076325"/>
          </a:xfrm>
          <a:prstGeom prst="rect">
            <a:avLst/>
          </a:prstGeom>
        </p:spPr>
        <p:txBody>
          <a:bodyPr anchor="t" rtlCol="false" tIns="0" lIns="0" bIns="0" rIns="0">
            <a:spAutoFit/>
          </a:bodyPr>
          <a:lstStyle/>
          <a:p>
            <a:pPr algn="l">
              <a:lnSpc>
                <a:spcPts val="3900"/>
              </a:lnSpc>
            </a:pPr>
            <a:r>
              <a:rPr lang="en-US" sz="3000">
                <a:solidFill>
                  <a:srgbClr val="FFF5E4"/>
                </a:solidFill>
                <a:latin typeface="Arimo"/>
                <a:ea typeface="Arimo"/>
                <a:cs typeface="Arimo"/>
                <a:sym typeface="Arimo"/>
              </a:rPr>
              <a:t>Working prototype runs the full flow locally</a:t>
            </a:r>
          </a:p>
        </p:txBody>
      </p:sp>
      <p:sp>
        <p:nvSpPr>
          <p:cNvPr name="AutoShape 21" id="21"/>
          <p:cNvSpPr/>
          <p:nvPr/>
        </p:nvSpPr>
        <p:spPr>
          <a:xfrm rot="5370840">
            <a:off x="8020012" y="7140778"/>
            <a:ext cx="2247976" cy="0"/>
          </a:xfrm>
          <a:prstGeom prst="line">
            <a:avLst/>
          </a:prstGeom>
          <a:ln cap="rnd" w="9525">
            <a:solidFill>
              <a:srgbClr val="34465C"/>
            </a:solidFill>
            <a:prstDash val="solid"/>
            <a:headEnd type="none" len="sm" w="sm"/>
            <a:tailEnd type="none" len="sm" w="sm"/>
          </a:ln>
        </p:spPr>
      </p:sp>
      <p:sp>
        <p:nvSpPr>
          <p:cNvPr name="TextBox 22" id="22"/>
          <p:cNvSpPr txBox="true"/>
          <p:nvPr/>
        </p:nvSpPr>
        <p:spPr>
          <a:xfrm rot="0">
            <a:off x="9610725" y="6354966"/>
            <a:ext cx="7210901" cy="495300"/>
          </a:xfrm>
          <a:prstGeom prst="rect">
            <a:avLst/>
          </a:prstGeom>
        </p:spPr>
        <p:txBody>
          <a:bodyPr anchor="t" rtlCol="false" tIns="0" lIns="0" bIns="0" rIns="0">
            <a:spAutoFit/>
          </a:bodyPr>
          <a:lstStyle/>
          <a:p>
            <a:pPr algn="l">
              <a:lnSpc>
                <a:spcPts val="3149"/>
              </a:lnSpc>
            </a:pPr>
            <a:r>
              <a:rPr lang="en-US" b="true" sz="2250" spc="150">
                <a:solidFill>
                  <a:srgbClr val="F0A032"/>
                </a:solidFill>
                <a:latin typeface="Arimo Bold"/>
                <a:ea typeface="Arimo Bold"/>
                <a:cs typeface="Arimo Bold"/>
                <a:sym typeface="Arimo Bold"/>
              </a:rPr>
              <a:t>NEXT</a:t>
            </a:r>
          </a:p>
        </p:txBody>
      </p:sp>
      <p:sp>
        <p:nvSpPr>
          <p:cNvPr name="TextBox 23" id="23"/>
          <p:cNvSpPr txBox="true"/>
          <p:nvPr/>
        </p:nvSpPr>
        <p:spPr>
          <a:xfrm rot="0">
            <a:off x="9610725" y="6840741"/>
            <a:ext cx="7210901" cy="1076325"/>
          </a:xfrm>
          <a:prstGeom prst="rect">
            <a:avLst/>
          </a:prstGeom>
        </p:spPr>
        <p:txBody>
          <a:bodyPr anchor="t" rtlCol="false" tIns="0" lIns="0" bIns="0" rIns="0">
            <a:spAutoFit/>
          </a:bodyPr>
          <a:lstStyle/>
          <a:p>
            <a:pPr algn="l">
              <a:lnSpc>
                <a:spcPts val="3900"/>
              </a:lnSpc>
            </a:pPr>
            <a:r>
              <a:rPr lang="en-US" sz="3000">
                <a:solidFill>
                  <a:srgbClr val="FFF5E4"/>
                </a:solidFill>
                <a:latin typeface="Arimo"/>
                <a:ea typeface="Arimo"/>
                <a:cs typeface="Arimo"/>
                <a:sym typeface="Arimo"/>
              </a:rPr>
              <a:t>Pilot shops and delivery teams on live orders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DAHYzvxpcZA</dc:identifier>
  <dcterms:modified xsi:type="dcterms:W3CDTF">2011-08-01T06:04:30Z</dcterms:modified>
  <cp:revision>1</cp:revision>
  <dc:title>LannPya pitch deck.pptx</dc:title>
</cp:coreProperties>
</file>